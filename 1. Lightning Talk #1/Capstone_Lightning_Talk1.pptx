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467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052560" y="-1188720"/>
            <a:ext cx="4754880" cy="4754880"/>
          </a:xfrm>
          <a:prstGeom prst="ellipse">
            <a:avLst/>
          </a:prstGeom>
          <a:ln w="19050">
            <a:solidFill>
              <a:srgbClr val="3A4590"/>
            </a:solidFill>
            <a:prstDash val="solid"/>
          </a:ln>
        </p:spPr>
        <p:txBody>
          <a:bodyPr/>
          <a:lstStyle/>
          <a:p>
            <a:endParaRPr lang="en-GB"/>
          </a:p>
        </p:txBody>
      </p:sp>
      <p:sp>
        <p:nvSpPr>
          <p:cNvPr id="3" name="Shape 1"/>
          <p:cNvSpPr/>
          <p:nvPr/>
        </p:nvSpPr>
        <p:spPr>
          <a:xfrm>
            <a:off x="10149840" y="2011680"/>
            <a:ext cx="3291840" cy="3291840"/>
          </a:xfrm>
          <a:prstGeom prst="ellipse">
            <a:avLst/>
          </a:prstGeom>
          <a:ln w="19050">
            <a:solidFill>
              <a:srgbClr val="3A4590"/>
            </a:solidFill>
            <a:prstDash val="solid"/>
          </a:ln>
        </p:spPr>
        <p:txBody>
          <a:bodyPr/>
          <a:lstStyle/>
          <a:p>
            <a:endParaRPr lang="en-GB"/>
          </a:p>
        </p:txBody>
      </p:sp>
      <p:sp>
        <p:nvSpPr>
          <p:cNvPr id="4" name="Shape 2"/>
          <p:cNvSpPr/>
          <p:nvPr/>
        </p:nvSpPr>
        <p:spPr>
          <a:xfrm>
            <a:off x="-1280160" y="4206240"/>
            <a:ext cx="3840480" cy="3840480"/>
          </a:xfrm>
          <a:prstGeom prst="ellipse">
            <a:avLst/>
          </a:prstGeom>
          <a:ln w="19050">
            <a:solidFill>
              <a:srgbClr val="3A4590"/>
            </a:solidFill>
            <a:prstDash val="solid"/>
          </a:ln>
        </p:spPr>
        <p:txBody>
          <a:bodyPr/>
          <a:lstStyle/>
          <a:p>
            <a:endParaRPr lang="en-GB"/>
          </a:p>
        </p:txBody>
      </p:sp>
      <p:sp>
        <p:nvSpPr>
          <p:cNvPr id="5" name="Text 3"/>
          <p:cNvSpPr/>
          <p:nvPr/>
        </p:nvSpPr>
        <p:spPr>
          <a:xfrm>
            <a:off x="822960" y="1417320"/>
            <a:ext cx="8229600" cy="365760"/>
          </a:xfrm>
          <a:prstGeom prst="rect">
            <a:avLst/>
          </a:prstGeom>
          <a:noFill/>
          <a:ln/>
        </p:spPr>
        <p:txBody>
          <a:bodyPr wrap="square" lIns="0" tIns="0" rIns="0" bIns="0" rtlCol="0" anchor="ctr"/>
          <a:lstStyle/>
          <a:p>
            <a:pPr marL="0" indent="0">
              <a:buNone/>
            </a:pPr>
            <a:r>
              <a:rPr lang="en-US" sz="1400" b="1" kern="0" spc="200" dirty="0">
                <a:solidFill>
                  <a:srgbClr val="CADCFC"/>
                </a:solidFill>
                <a:latin typeface="Calibri" pitchFamily="34" charset="0"/>
                <a:ea typeface="Calibri" pitchFamily="34" charset="-122"/>
                <a:cs typeface="Calibri" pitchFamily="34" charset="-120"/>
              </a:rPr>
              <a:t>DATA SCIENCE CAPSTONE  ·  PART 1</a:t>
            </a:r>
            <a:endParaRPr lang="en-US" sz="1400" dirty="0"/>
          </a:p>
        </p:txBody>
      </p:sp>
      <p:sp>
        <p:nvSpPr>
          <p:cNvPr id="6" name="Text 4"/>
          <p:cNvSpPr/>
          <p:nvPr/>
        </p:nvSpPr>
        <p:spPr>
          <a:xfrm>
            <a:off x="777240" y="1828800"/>
            <a:ext cx="10058400" cy="100584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Lightning Talk #1</a:t>
            </a:r>
            <a:endParaRPr lang="en-US" sz="4800" dirty="0"/>
          </a:p>
        </p:txBody>
      </p:sp>
      <p:sp>
        <p:nvSpPr>
          <p:cNvPr id="7" name="Text 5"/>
          <p:cNvSpPr/>
          <p:nvPr/>
        </p:nvSpPr>
        <p:spPr>
          <a:xfrm>
            <a:off x="822960" y="2697480"/>
            <a:ext cx="9144000" cy="548640"/>
          </a:xfrm>
          <a:prstGeom prst="rect">
            <a:avLst/>
          </a:prstGeom>
          <a:noFill/>
          <a:ln/>
        </p:spPr>
        <p:txBody>
          <a:bodyPr wrap="square" lIns="0" tIns="0" rIns="0" bIns="0" rtlCol="0" anchor="ctr"/>
          <a:lstStyle/>
          <a:p>
            <a:pPr marL="0" indent="0">
              <a:buNone/>
            </a:pPr>
            <a:r>
              <a:rPr lang="en-US" sz="2400" i="1" dirty="0">
                <a:solidFill>
                  <a:srgbClr val="CADCFC"/>
                </a:solidFill>
                <a:latin typeface="Cambria" pitchFamily="34" charset="0"/>
                <a:ea typeface="Cambria" pitchFamily="34" charset="-122"/>
                <a:cs typeface="Cambria" pitchFamily="34" charset="-120"/>
              </a:rPr>
              <a:t>Pitch + Problem Statement</a:t>
            </a:r>
            <a:endParaRPr lang="en-US" sz="2400" dirty="0"/>
          </a:p>
        </p:txBody>
      </p:sp>
      <p:sp>
        <p:nvSpPr>
          <p:cNvPr id="8" name="Text 6"/>
          <p:cNvSpPr/>
          <p:nvPr/>
        </p:nvSpPr>
        <p:spPr>
          <a:xfrm>
            <a:off x="822960" y="3246120"/>
            <a:ext cx="8686800" cy="365760"/>
          </a:xfrm>
          <a:prstGeom prst="rect">
            <a:avLst/>
          </a:prstGeom>
          <a:noFill/>
          <a:ln/>
        </p:spPr>
        <p:txBody>
          <a:bodyPr wrap="square" lIns="0" tIns="0" rIns="0" bIns="0" rtlCol="0" anchor="ctr"/>
          <a:lstStyle/>
          <a:p>
            <a:pPr marL="0" indent="0">
              <a:buNone/>
            </a:pPr>
            <a:r>
              <a:rPr lang="en-US" sz="1600" dirty="0">
                <a:solidFill>
                  <a:srgbClr val="B9C4E8"/>
                </a:solidFill>
                <a:latin typeface="Calibri" pitchFamily="34" charset="0"/>
                <a:ea typeface="Calibri" pitchFamily="34" charset="-122"/>
                <a:cs typeface="Calibri" pitchFamily="34" charset="-120"/>
              </a:rPr>
              <a:t>Three candidate capstone projects — problem, goals, data, and early EDA</a:t>
            </a:r>
            <a:endParaRPr lang="en-US" sz="1600" dirty="0"/>
          </a:p>
        </p:txBody>
      </p:sp>
      <p:sp>
        <p:nvSpPr>
          <p:cNvPr id="9" name="Shape 7"/>
          <p:cNvSpPr/>
          <p:nvPr/>
        </p:nvSpPr>
        <p:spPr>
          <a:xfrm>
            <a:off x="822960" y="4114800"/>
            <a:ext cx="384048" cy="384048"/>
          </a:xfrm>
          <a:prstGeom prst="ellipse">
            <a:avLst/>
          </a:prstGeom>
          <a:solidFill>
            <a:srgbClr val="C98A1B"/>
          </a:solidFill>
          <a:ln/>
        </p:spPr>
        <p:txBody>
          <a:bodyPr/>
          <a:lstStyle/>
          <a:p>
            <a:endParaRPr lang="en-GB"/>
          </a:p>
        </p:txBody>
      </p:sp>
      <p:sp>
        <p:nvSpPr>
          <p:cNvPr id="10" name="Text 8"/>
          <p:cNvSpPr/>
          <p:nvPr/>
        </p:nvSpPr>
        <p:spPr>
          <a:xfrm>
            <a:off x="822960" y="4114800"/>
            <a:ext cx="384048" cy="38404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1" name="Text 9"/>
          <p:cNvSpPr/>
          <p:nvPr/>
        </p:nvSpPr>
        <p:spPr>
          <a:xfrm>
            <a:off x="1298448" y="4114800"/>
            <a:ext cx="2194560" cy="384048"/>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Credit Card Fraud</a:t>
            </a:r>
            <a:endParaRPr lang="en-US" sz="2000" dirty="0"/>
          </a:p>
        </p:txBody>
      </p:sp>
      <p:sp>
        <p:nvSpPr>
          <p:cNvPr id="12" name="Shape 10"/>
          <p:cNvSpPr/>
          <p:nvPr/>
        </p:nvSpPr>
        <p:spPr>
          <a:xfrm>
            <a:off x="3886200" y="4114800"/>
            <a:ext cx="384048" cy="384048"/>
          </a:xfrm>
          <a:prstGeom prst="ellipse">
            <a:avLst/>
          </a:prstGeom>
          <a:solidFill>
            <a:srgbClr val="B3395A"/>
          </a:solidFill>
          <a:ln/>
        </p:spPr>
        <p:txBody>
          <a:bodyPr/>
          <a:lstStyle/>
          <a:p>
            <a:endParaRPr lang="en-GB"/>
          </a:p>
        </p:txBody>
      </p:sp>
      <p:sp>
        <p:nvSpPr>
          <p:cNvPr id="13" name="Text 11"/>
          <p:cNvSpPr/>
          <p:nvPr/>
        </p:nvSpPr>
        <p:spPr>
          <a:xfrm>
            <a:off x="3886200" y="4114800"/>
            <a:ext cx="384048" cy="38404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4361688" y="4114800"/>
            <a:ext cx="2194560" cy="384048"/>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Cardiovascular Risk</a:t>
            </a:r>
            <a:endParaRPr lang="en-US" sz="2000" dirty="0"/>
          </a:p>
        </p:txBody>
      </p:sp>
      <p:sp>
        <p:nvSpPr>
          <p:cNvPr id="15" name="Shape 13"/>
          <p:cNvSpPr/>
          <p:nvPr/>
        </p:nvSpPr>
        <p:spPr>
          <a:xfrm>
            <a:off x="6949440" y="4114800"/>
            <a:ext cx="384048" cy="384048"/>
          </a:xfrm>
          <a:prstGeom prst="ellipse">
            <a:avLst/>
          </a:prstGeom>
          <a:solidFill>
            <a:srgbClr val="146B7A"/>
          </a:solidFill>
          <a:ln/>
        </p:spPr>
        <p:txBody>
          <a:bodyPr/>
          <a:lstStyle/>
          <a:p>
            <a:endParaRPr lang="en-GB"/>
          </a:p>
        </p:txBody>
      </p:sp>
      <p:sp>
        <p:nvSpPr>
          <p:cNvPr id="16" name="Text 14"/>
          <p:cNvSpPr/>
          <p:nvPr/>
        </p:nvSpPr>
        <p:spPr>
          <a:xfrm>
            <a:off x="6949440" y="4114800"/>
            <a:ext cx="384048" cy="38404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7" name="Text 15"/>
          <p:cNvSpPr/>
          <p:nvPr/>
        </p:nvSpPr>
        <p:spPr>
          <a:xfrm>
            <a:off x="7424928" y="4114800"/>
            <a:ext cx="2194560" cy="384048"/>
          </a:xfrm>
          <a:prstGeom prst="rect">
            <a:avLst/>
          </a:prstGeom>
          <a:noFill/>
          <a:ln/>
        </p:spPr>
        <p:txBody>
          <a:bodyPr wrap="square" lIns="0" tIns="0" rIns="0" bIns="0" rtlCol="0" anchor="ctr"/>
          <a:lstStyle/>
          <a:p>
            <a:pPr marL="0" indent="0">
              <a:buNone/>
            </a:pPr>
            <a:r>
              <a:rPr lang="en-US" sz="2000" dirty="0">
                <a:solidFill>
                  <a:srgbClr val="FFFFFF"/>
                </a:solidFill>
                <a:latin typeface="Calibri" pitchFamily="34" charset="0"/>
                <a:ea typeface="Calibri" pitchFamily="34" charset="-122"/>
                <a:cs typeface="Calibri" pitchFamily="34" charset="-120"/>
              </a:rPr>
              <a:t>Flight Delay</a:t>
            </a:r>
            <a:endParaRPr lang="en-US" sz="2000" dirty="0"/>
          </a:p>
        </p:txBody>
      </p:sp>
      <p:sp>
        <p:nvSpPr>
          <p:cNvPr id="18" name="Text 16"/>
          <p:cNvSpPr/>
          <p:nvPr/>
        </p:nvSpPr>
        <p:spPr>
          <a:xfrm>
            <a:off x="822960" y="6126480"/>
            <a:ext cx="5486400" cy="320040"/>
          </a:xfrm>
          <a:prstGeom prst="rect">
            <a:avLst/>
          </a:prstGeom>
          <a:noFill/>
          <a:ln/>
        </p:spPr>
        <p:txBody>
          <a:bodyPr wrap="square" lIns="0" tIns="0" rIns="0" bIns="0" rtlCol="0" anchor="ctr"/>
          <a:lstStyle/>
          <a:p>
            <a:pPr marL="0" indent="0">
              <a:buNone/>
            </a:pPr>
            <a:r>
              <a:rPr lang="en-GB" sz="1200" dirty="0">
                <a:solidFill>
                  <a:srgbClr val="8C99C9"/>
                </a:solidFill>
                <a:latin typeface="Calibri" pitchFamily="34" charset="0"/>
                <a:ea typeface="Calibri" pitchFamily="34" charset="-122"/>
                <a:cs typeface="Calibri" pitchFamily="34" charset="-120"/>
              </a:rPr>
              <a:t>Fatima Jaffer </a:t>
            </a:r>
            <a:r>
              <a:rPr lang="en-GB" sz="1200" dirty="0" err="1">
                <a:solidFill>
                  <a:srgbClr val="8C99C9"/>
                </a:solidFill>
                <a:latin typeface="Calibri" pitchFamily="34" charset="0"/>
                <a:ea typeface="Calibri" pitchFamily="34" charset="-122"/>
                <a:cs typeface="Calibri" pitchFamily="34" charset="-120"/>
              </a:rPr>
              <a:t>A.Aziz</a:t>
            </a:r>
            <a:r>
              <a:rPr lang="en-GB" sz="1200" dirty="0">
                <a:solidFill>
                  <a:srgbClr val="8C99C9"/>
                </a:solidFill>
                <a:latin typeface="Calibri" pitchFamily="34" charset="0"/>
                <a:ea typeface="Calibri" pitchFamily="34" charset="-122"/>
                <a:cs typeface="Calibri" pitchFamily="34" charset="-120"/>
              </a:rPr>
              <a:t> </a:t>
            </a:r>
            <a:r>
              <a:rPr lang="en-US" sz="1200" dirty="0">
                <a:solidFill>
                  <a:srgbClr val="8C99C9"/>
                </a:solidFill>
                <a:latin typeface="Calibri" pitchFamily="34" charset="0"/>
                <a:ea typeface="Calibri" pitchFamily="34" charset="-122"/>
                <a:cs typeface="Calibri" pitchFamily="34" charset="-120"/>
              </a:rPr>
              <a:t> ·  Cohort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274320"/>
          </a:xfrm>
          <a:prstGeom prst="rect">
            <a:avLst/>
          </a:prstGeom>
          <a:noFill/>
          <a:ln/>
        </p:spPr>
        <p:txBody>
          <a:bodyPr wrap="square" lIns="0" tIns="0" rIns="0" bIns="0" rtlCol="0" anchor="ctr"/>
          <a:lstStyle/>
          <a:p>
            <a:pPr marL="0" indent="0">
              <a:buNone/>
            </a:pPr>
            <a:r>
              <a:rPr lang="en-US" sz="1250" b="1" kern="0" spc="150" dirty="0">
                <a:solidFill>
                  <a:srgbClr val="1E2761"/>
                </a:solidFill>
                <a:latin typeface="Calibri" pitchFamily="34" charset="0"/>
                <a:ea typeface="Calibri" pitchFamily="34" charset="-122"/>
                <a:cs typeface="Calibri" pitchFamily="34" charset="-120"/>
              </a:rPr>
              <a:t>THREE PROPOSALS, ONE CAPSTONE</a:t>
            </a:r>
            <a:endParaRPr lang="en-US" sz="1250" dirty="0"/>
          </a:p>
        </p:txBody>
      </p:sp>
      <p:sp>
        <p:nvSpPr>
          <p:cNvPr id="3" name="Text 1"/>
          <p:cNvSpPr/>
          <p:nvPr/>
        </p:nvSpPr>
        <p:spPr>
          <a:xfrm>
            <a:off x="548640" y="658368"/>
            <a:ext cx="10058400" cy="548640"/>
          </a:xfrm>
          <a:prstGeom prst="rect">
            <a:avLst/>
          </a:prstGeom>
          <a:noFill/>
          <a:ln/>
        </p:spPr>
        <p:txBody>
          <a:bodyPr wrap="square" lIns="0" tIns="0" rIns="0" bIns="0" rtlCol="0" anchor="ctr"/>
          <a:lstStyle/>
          <a:p>
            <a:pPr marL="0" indent="0">
              <a:buNone/>
            </a:pPr>
            <a:r>
              <a:rPr lang="en-US" sz="3000" b="1" dirty="0">
                <a:solidFill>
                  <a:srgbClr val="1F2430"/>
                </a:solidFill>
                <a:latin typeface="Cambria" pitchFamily="34" charset="0"/>
                <a:ea typeface="Cambria" pitchFamily="34" charset="-122"/>
                <a:cs typeface="Cambria" pitchFamily="34" charset="-120"/>
              </a:rPr>
              <a:t>What I'll pitch today</a:t>
            </a:r>
            <a:endParaRPr lang="en-US" sz="3000" dirty="0"/>
          </a:p>
        </p:txBody>
      </p:sp>
      <p:sp>
        <p:nvSpPr>
          <p:cNvPr id="4" name="Shape 2"/>
          <p:cNvSpPr/>
          <p:nvPr/>
        </p:nvSpPr>
        <p:spPr>
          <a:xfrm>
            <a:off x="548640" y="1508760"/>
            <a:ext cx="3520440" cy="4709160"/>
          </a:xfrm>
          <a:prstGeom prst="roundRect">
            <a:avLst>
              <a:gd name="adj" fmla="val 2078"/>
            </a:avLst>
          </a:prstGeom>
          <a:solidFill>
            <a:srgbClr val="FBF1DE"/>
          </a:solidFill>
          <a:ln/>
          <a:effectLst>
            <a:outerShdw blurRad="101600" dist="38100" dir="5400000" algn="bl" rotWithShape="0">
              <a:srgbClr val="9AA5C4">
                <a:alpha val="25000"/>
              </a:srgbClr>
            </a:outerShdw>
          </a:effectLst>
        </p:spPr>
        <p:txBody>
          <a:bodyPr/>
          <a:lstStyle/>
          <a:p>
            <a:endParaRPr lang="en-GB"/>
          </a:p>
        </p:txBody>
      </p:sp>
      <p:sp>
        <p:nvSpPr>
          <p:cNvPr id="5" name="Shape 3"/>
          <p:cNvSpPr/>
          <p:nvPr/>
        </p:nvSpPr>
        <p:spPr>
          <a:xfrm>
            <a:off x="822960" y="1783080"/>
            <a:ext cx="566928" cy="566928"/>
          </a:xfrm>
          <a:prstGeom prst="ellipse">
            <a:avLst/>
          </a:prstGeom>
          <a:solidFill>
            <a:srgbClr val="C98A1B"/>
          </a:solidFill>
          <a:ln/>
        </p:spPr>
        <p:txBody>
          <a:bodyPr/>
          <a:lstStyle/>
          <a:p>
            <a:endParaRPr lang="en-GB"/>
          </a:p>
        </p:txBody>
      </p:sp>
      <p:sp>
        <p:nvSpPr>
          <p:cNvPr id="6" name="Text 4"/>
          <p:cNvSpPr/>
          <p:nvPr/>
        </p:nvSpPr>
        <p:spPr>
          <a:xfrm>
            <a:off x="822960" y="1783080"/>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3154680" y="1737360"/>
            <a:ext cx="640080" cy="457200"/>
          </a:xfrm>
          <a:prstGeom prst="rect">
            <a:avLst/>
          </a:prstGeom>
          <a:noFill/>
          <a:ln/>
        </p:spPr>
        <p:txBody>
          <a:bodyPr wrap="square" lIns="0" tIns="0" rIns="0" bIns="0" rtlCol="0" anchor="ctr"/>
          <a:lstStyle/>
          <a:p>
            <a:pPr marL="0" indent="0" algn="r">
              <a:buNone/>
            </a:pPr>
            <a:r>
              <a:rPr lang="en-US" sz="2200" b="1" dirty="0">
                <a:solidFill>
                  <a:srgbClr val="C98A1B"/>
                </a:solidFill>
                <a:latin typeface="Cambria" pitchFamily="34" charset="0"/>
                <a:ea typeface="Cambria" pitchFamily="34" charset="-122"/>
                <a:cs typeface="Cambria" pitchFamily="34" charset="-120"/>
              </a:rPr>
              <a:t>01</a:t>
            </a:r>
            <a:endParaRPr lang="en-US" sz="2200" dirty="0"/>
          </a:p>
        </p:txBody>
      </p:sp>
      <p:sp>
        <p:nvSpPr>
          <p:cNvPr id="8" name="Text 6"/>
          <p:cNvSpPr/>
          <p:nvPr/>
        </p:nvSpPr>
        <p:spPr>
          <a:xfrm>
            <a:off x="822960" y="2514600"/>
            <a:ext cx="2971800" cy="868680"/>
          </a:xfrm>
          <a:prstGeom prst="rect">
            <a:avLst/>
          </a:prstGeom>
          <a:noFill/>
          <a:ln/>
        </p:spPr>
        <p:txBody>
          <a:bodyPr wrap="square" lIns="0" tIns="0" rIns="0" bIns="0" rtlCol="0" anchor="ctr"/>
          <a:lstStyle/>
          <a:p>
            <a:pPr marL="0" indent="0">
              <a:buNone/>
            </a:pPr>
            <a:r>
              <a:rPr lang="en-US" sz="2000" b="1" dirty="0">
                <a:solidFill>
                  <a:srgbClr val="1F2430"/>
                </a:solidFill>
                <a:latin typeface="Cambria" pitchFamily="34" charset="0"/>
                <a:ea typeface="Cambria" pitchFamily="34" charset="-122"/>
                <a:cs typeface="Cambria" pitchFamily="34" charset="-120"/>
              </a:rPr>
              <a:t>Credit Card Fraud Detection</a:t>
            </a:r>
            <a:endParaRPr lang="en-US" sz="2000" dirty="0"/>
          </a:p>
        </p:txBody>
      </p:sp>
      <p:sp>
        <p:nvSpPr>
          <p:cNvPr id="9" name="Text 7"/>
          <p:cNvSpPr/>
          <p:nvPr/>
        </p:nvSpPr>
        <p:spPr>
          <a:xfrm>
            <a:off x="822960" y="3383280"/>
            <a:ext cx="2971800" cy="914400"/>
          </a:xfrm>
          <a:prstGeom prst="rect">
            <a:avLst/>
          </a:prstGeom>
          <a:noFill/>
          <a:ln/>
        </p:spPr>
        <p:txBody>
          <a:bodyPr wrap="square" lIns="0" tIns="0" rIns="0" bIns="0" rtlCol="0" anchor="ctr"/>
          <a:lstStyle/>
          <a:p>
            <a:pPr marL="0" indent="0">
              <a:buNone/>
            </a:pPr>
            <a:r>
              <a:rPr lang="en-US" sz="2000" dirty="0">
                <a:solidFill>
                  <a:srgbClr val="3D4457"/>
                </a:solidFill>
                <a:latin typeface="Calibri" pitchFamily="34" charset="0"/>
                <a:ea typeface="Calibri" pitchFamily="34" charset="-122"/>
                <a:cs typeface="Calibri" pitchFamily="34" charset="-120"/>
              </a:rPr>
              <a:t>Flag fraudulent transactions among 1.85M+ card swipes.</a:t>
            </a:r>
            <a:endParaRPr lang="en-US" sz="2000" dirty="0"/>
          </a:p>
        </p:txBody>
      </p:sp>
      <p:sp>
        <p:nvSpPr>
          <p:cNvPr id="10" name="Shape 8"/>
          <p:cNvSpPr/>
          <p:nvPr/>
        </p:nvSpPr>
        <p:spPr>
          <a:xfrm>
            <a:off x="822960" y="4480560"/>
            <a:ext cx="2971800" cy="0"/>
          </a:xfrm>
          <a:prstGeom prst="line">
            <a:avLst/>
          </a:prstGeom>
          <a:noFill/>
          <a:ln w="9525">
            <a:solidFill>
              <a:srgbClr val="C98A1B">
                <a:alpha val="40000"/>
              </a:srgbClr>
            </a:solidFill>
            <a:prstDash val="solid"/>
          </a:ln>
        </p:spPr>
        <p:txBody>
          <a:bodyPr/>
          <a:lstStyle/>
          <a:p>
            <a:endParaRPr lang="en-GB"/>
          </a:p>
        </p:txBody>
      </p:sp>
      <p:sp>
        <p:nvSpPr>
          <p:cNvPr id="11" name="Text 9"/>
          <p:cNvSpPr/>
          <p:nvPr/>
        </p:nvSpPr>
        <p:spPr>
          <a:xfrm>
            <a:off x="822960" y="4663440"/>
            <a:ext cx="2971800" cy="1371600"/>
          </a:xfrm>
          <a:prstGeom prst="rect">
            <a:avLst/>
          </a:prstGeom>
          <a:noFill/>
          <a:ln/>
        </p:spPr>
        <p:txBody>
          <a:bodyPr wrap="square" lIns="0" tIns="0" rIns="0" bIns="0" rtlCol="0" anchor="ctr"/>
          <a:lstStyle/>
          <a:p>
            <a:pPr marL="0" indent="0">
              <a:lnSpc>
                <a:spcPct val="150000"/>
              </a:lnSpc>
              <a:buNone/>
            </a:pPr>
            <a:r>
              <a:rPr lang="en-US" sz="1600" dirty="0">
                <a:solidFill>
                  <a:srgbClr val="6B7280"/>
                </a:solidFill>
                <a:latin typeface="Calibri" pitchFamily="34" charset="0"/>
                <a:ea typeface="Calibri" pitchFamily="34" charset="-122"/>
                <a:cs typeface="Calibri" pitchFamily="34" charset="-120"/>
              </a:rPr>
              <a:t>Features   </a:t>
            </a:r>
            <a:r>
              <a:rPr lang="en-US" sz="1600" b="1" dirty="0">
                <a:solidFill>
                  <a:srgbClr val="1F2430"/>
                </a:solidFill>
                <a:latin typeface="Calibri" pitchFamily="34" charset="0"/>
                <a:ea typeface="Calibri" pitchFamily="34" charset="-122"/>
                <a:cs typeface="Calibri" pitchFamily="34" charset="-120"/>
              </a:rPr>
              <a:t>23 cols</a:t>
            </a:r>
            <a:endParaRPr lang="en-US" sz="1600" dirty="0"/>
          </a:p>
          <a:p>
            <a:pPr marL="0" indent="0">
              <a:lnSpc>
                <a:spcPct val="150000"/>
              </a:lnSpc>
              <a:buNone/>
            </a:pPr>
            <a:r>
              <a:rPr lang="en-US" sz="1600" dirty="0">
                <a:solidFill>
                  <a:srgbClr val="6B7280"/>
                </a:solidFill>
                <a:latin typeface="Calibri" pitchFamily="34" charset="0"/>
                <a:ea typeface="Calibri" pitchFamily="34" charset="-122"/>
                <a:cs typeface="Calibri" pitchFamily="34" charset="-120"/>
              </a:rPr>
              <a:t>Task type   </a:t>
            </a:r>
            <a:r>
              <a:rPr lang="en-US" sz="1600" b="1" dirty="0">
                <a:solidFill>
                  <a:srgbClr val="1F2430"/>
                </a:solidFill>
                <a:latin typeface="Calibri" pitchFamily="34" charset="0"/>
                <a:ea typeface="Calibri" pitchFamily="34" charset="-122"/>
                <a:cs typeface="Calibri" pitchFamily="34" charset="-120"/>
              </a:rPr>
              <a:t>Binary class.</a:t>
            </a:r>
            <a:endParaRPr lang="en-US" sz="1600" dirty="0"/>
          </a:p>
        </p:txBody>
      </p:sp>
      <p:sp>
        <p:nvSpPr>
          <p:cNvPr id="12" name="Shape 10"/>
          <p:cNvSpPr/>
          <p:nvPr/>
        </p:nvSpPr>
        <p:spPr>
          <a:xfrm>
            <a:off x="4389120" y="1508760"/>
            <a:ext cx="3520440" cy="4709160"/>
          </a:xfrm>
          <a:prstGeom prst="roundRect">
            <a:avLst>
              <a:gd name="adj" fmla="val 2078"/>
            </a:avLst>
          </a:prstGeom>
          <a:solidFill>
            <a:srgbClr val="FBEAF0"/>
          </a:solidFill>
          <a:ln/>
          <a:effectLst>
            <a:outerShdw blurRad="101600" dist="38100" dir="5400000" algn="bl" rotWithShape="0">
              <a:srgbClr val="9AA5C4">
                <a:alpha val="25000"/>
              </a:srgbClr>
            </a:outerShdw>
          </a:effectLst>
        </p:spPr>
        <p:txBody>
          <a:bodyPr/>
          <a:lstStyle/>
          <a:p>
            <a:endParaRPr lang="en-GB"/>
          </a:p>
        </p:txBody>
      </p:sp>
      <p:sp>
        <p:nvSpPr>
          <p:cNvPr id="13" name="Shape 11"/>
          <p:cNvSpPr/>
          <p:nvPr/>
        </p:nvSpPr>
        <p:spPr>
          <a:xfrm>
            <a:off x="4663440" y="1783080"/>
            <a:ext cx="566928" cy="566928"/>
          </a:xfrm>
          <a:prstGeom prst="ellipse">
            <a:avLst/>
          </a:prstGeom>
          <a:solidFill>
            <a:srgbClr val="B3395A"/>
          </a:solidFill>
          <a:ln/>
        </p:spPr>
        <p:txBody>
          <a:bodyPr/>
          <a:lstStyle/>
          <a:p>
            <a:endParaRPr lang="en-GB"/>
          </a:p>
        </p:txBody>
      </p:sp>
      <p:sp>
        <p:nvSpPr>
          <p:cNvPr id="14" name="Text 12"/>
          <p:cNvSpPr/>
          <p:nvPr/>
        </p:nvSpPr>
        <p:spPr>
          <a:xfrm>
            <a:off x="4663440" y="1783080"/>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5" name="Text 13"/>
          <p:cNvSpPr/>
          <p:nvPr/>
        </p:nvSpPr>
        <p:spPr>
          <a:xfrm>
            <a:off x="6995160" y="1737360"/>
            <a:ext cx="640080" cy="457200"/>
          </a:xfrm>
          <a:prstGeom prst="rect">
            <a:avLst/>
          </a:prstGeom>
          <a:noFill/>
          <a:ln/>
        </p:spPr>
        <p:txBody>
          <a:bodyPr wrap="square" lIns="0" tIns="0" rIns="0" bIns="0" rtlCol="0" anchor="ctr"/>
          <a:lstStyle/>
          <a:p>
            <a:pPr marL="0" indent="0" algn="r">
              <a:buNone/>
            </a:pPr>
            <a:r>
              <a:rPr lang="en-US" sz="2200" b="1" dirty="0">
                <a:solidFill>
                  <a:srgbClr val="B3395A"/>
                </a:solidFill>
                <a:latin typeface="Cambria" pitchFamily="34" charset="0"/>
                <a:ea typeface="Cambria" pitchFamily="34" charset="-122"/>
                <a:cs typeface="Cambria" pitchFamily="34" charset="-120"/>
              </a:rPr>
              <a:t>02</a:t>
            </a:r>
            <a:endParaRPr lang="en-US" sz="2200" dirty="0"/>
          </a:p>
        </p:txBody>
      </p:sp>
      <p:sp>
        <p:nvSpPr>
          <p:cNvPr id="16" name="Text 14"/>
          <p:cNvSpPr/>
          <p:nvPr/>
        </p:nvSpPr>
        <p:spPr>
          <a:xfrm>
            <a:off x="4663440" y="2514600"/>
            <a:ext cx="2971800" cy="868680"/>
          </a:xfrm>
          <a:prstGeom prst="rect">
            <a:avLst/>
          </a:prstGeom>
          <a:noFill/>
          <a:ln/>
        </p:spPr>
        <p:txBody>
          <a:bodyPr wrap="square" lIns="0" tIns="0" rIns="0" bIns="0" rtlCol="0" anchor="ctr"/>
          <a:lstStyle/>
          <a:p>
            <a:pPr marL="0" indent="0">
              <a:buNone/>
            </a:pPr>
            <a:r>
              <a:rPr lang="en-US" sz="2000" b="1" dirty="0">
                <a:solidFill>
                  <a:srgbClr val="1F2430"/>
                </a:solidFill>
                <a:latin typeface="Cambria" pitchFamily="34" charset="0"/>
                <a:ea typeface="Cambria" pitchFamily="34" charset="-122"/>
                <a:cs typeface="Cambria" pitchFamily="34" charset="-120"/>
              </a:rPr>
              <a:t>Cardiovascular Disease Prediction</a:t>
            </a:r>
            <a:endParaRPr lang="en-US" sz="2000" dirty="0"/>
          </a:p>
        </p:txBody>
      </p:sp>
      <p:sp>
        <p:nvSpPr>
          <p:cNvPr id="17" name="Text 15"/>
          <p:cNvSpPr/>
          <p:nvPr/>
        </p:nvSpPr>
        <p:spPr>
          <a:xfrm>
            <a:off x="4663440" y="3383280"/>
            <a:ext cx="2971800" cy="914400"/>
          </a:xfrm>
          <a:prstGeom prst="rect">
            <a:avLst/>
          </a:prstGeom>
          <a:noFill/>
          <a:ln/>
        </p:spPr>
        <p:txBody>
          <a:bodyPr wrap="square" lIns="0" tIns="0" rIns="0" bIns="0" rtlCol="0" anchor="ctr"/>
          <a:lstStyle/>
          <a:p>
            <a:pPr marL="0" indent="0">
              <a:buNone/>
            </a:pPr>
            <a:r>
              <a:rPr lang="en-US" sz="2000" dirty="0">
                <a:solidFill>
                  <a:srgbClr val="3D4457"/>
                </a:solidFill>
                <a:latin typeface="Calibri" pitchFamily="34" charset="0"/>
                <a:ea typeface="Calibri" pitchFamily="34" charset="-122"/>
                <a:cs typeface="Calibri" pitchFamily="34" charset="-120"/>
              </a:rPr>
              <a:t>Predict disease presence from 70K patient health records.</a:t>
            </a:r>
            <a:endParaRPr lang="en-US" sz="2000" dirty="0"/>
          </a:p>
        </p:txBody>
      </p:sp>
      <p:sp>
        <p:nvSpPr>
          <p:cNvPr id="18" name="Shape 16"/>
          <p:cNvSpPr/>
          <p:nvPr/>
        </p:nvSpPr>
        <p:spPr>
          <a:xfrm>
            <a:off x="4663440" y="4480560"/>
            <a:ext cx="2971800" cy="0"/>
          </a:xfrm>
          <a:prstGeom prst="line">
            <a:avLst/>
          </a:prstGeom>
          <a:noFill/>
          <a:ln w="9525">
            <a:solidFill>
              <a:srgbClr val="B3395A">
                <a:alpha val="40000"/>
              </a:srgbClr>
            </a:solidFill>
            <a:prstDash val="solid"/>
          </a:ln>
        </p:spPr>
        <p:txBody>
          <a:bodyPr/>
          <a:lstStyle/>
          <a:p>
            <a:endParaRPr lang="en-GB"/>
          </a:p>
        </p:txBody>
      </p:sp>
      <p:sp>
        <p:nvSpPr>
          <p:cNvPr id="19" name="Text 17"/>
          <p:cNvSpPr/>
          <p:nvPr/>
        </p:nvSpPr>
        <p:spPr>
          <a:xfrm>
            <a:off x="4663440" y="4663440"/>
            <a:ext cx="2971800" cy="1371600"/>
          </a:xfrm>
          <a:prstGeom prst="rect">
            <a:avLst/>
          </a:prstGeom>
          <a:noFill/>
          <a:ln/>
        </p:spPr>
        <p:txBody>
          <a:bodyPr wrap="square" lIns="0" tIns="0" rIns="0" bIns="0" rtlCol="0" anchor="ctr"/>
          <a:lstStyle/>
          <a:p>
            <a:pPr marL="0" indent="0">
              <a:lnSpc>
                <a:spcPct val="150000"/>
              </a:lnSpc>
              <a:buNone/>
            </a:pPr>
            <a:r>
              <a:rPr lang="en-US" sz="1600" dirty="0">
                <a:solidFill>
                  <a:srgbClr val="6B7280"/>
                </a:solidFill>
                <a:latin typeface="Calibri" pitchFamily="34" charset="0"/>
                <a:ea typeface="Calibri" pitchFamily="34" charset="-122"/>
                <a:cs typeface="Calibri" pitchFamily="34" charset="-120"/>
              </a:rPr>
              <a:t>Features   </a:t>
            </a:r>
            <a:r>
              <a:rPr lang="en-US" sz="1600" b="1" dirty="0">
                <a:solidFill>
                  <a:srgbClr val="1F2430"/>
                </a:solidFill>
                <a:latin typeface="Calibri" pitchFamily="34" charset="0"/>
                <a:ea typeface="Calibri" pitchFamily="34" charset="-122"/>
                <a:cs typeface="Calibri" pitchFamily="34" charset="-120"/>
              </a:rPr>
              <a:t>13 cols</a:t>
            </a:r>
            <a:endParaRPr lang="en-US" sz="1600" dirty="0"/>
          </a:p>
          <a:p>
            <a:pPr marL="0" indent="0">
              <a:lnSpc>
                <a:spcPct val="150000"/>
              </a:lnSpc>
              <a:buNone/>
            </a:pPr>
            <a:r>
              <a:rPr lang="en-US" sz="1600" dirty="0">
                <a:solidFill>
                  <a:srgbClr val="6B7280"/>
                </a:solidFill>
                <a:latin typeface="Calibri" pitchFamily="34" charset="0"/>
                <a:ea typeface="Calibri" pitchFamily="34" charset="-122"/>
                <a:cs typeface="Calibri" pitchFamily="34" charset="-120"/>
              </a:rPr>
              <a:t>Task type   </a:t>
            </a:r>
            <a:r>
              <a:rPr lang="en-US" sz="1600" b="1" dirty="0">
                <a:solidFill>
                  <a:srgbClr val="1F2430"/>
                </a:solidFill>
                <a:latin typeface="Calibri" pitchFamily="34" charset="0"/>
                <a:ea typeface="Calibri" pitchFamily="34" charset="-122"/>
                <a:cs typeface="Calibri" pitchFamily="34" charset="-120"/>
              </a:rPr>
              <a:t>Binary class.</a:t>
            </a:r>
            <a:endParaRPr lang="en-US" sz="1600" dirty="0"/>
          </a:p>
        </p:txBody>
      </p:sp>
      <p:sp>
        <p:nvSpPr>
          <p:cNvPr id="20" name="Shape 18"/>
          <p:cNvSpPr/>
          <p:nvPr/>
        </p:nvSpPr>
        <p:spPr>
          <a:xfrm>
            <a:off x="8229600" y="1508760"/>
            <a:ext cx="3520440" cy="4709160"/>
          </a:xfrm>
          <a:prstGeom prst="roundRect">
            <a:avLst>
              <a:gd name="adj" fmla="val 2078"/>
            </a:avLst>
          </a:prstGeom>
          <a:solidFill>
            <a:srgbClr val="E4F1F2"/>
          </a:solidFill>
          <a:ln/>
          <a:effectLst>
            <a:outerShdw blurRad="101600" dist="38100" dir="5400000" algn="bl" rotWithShape="0">
              <a:srgbClr val="9AA5C4">
                <a:alpha val="25000"/>
              </a:srgbClr>
            </a:outerShdw>
          </a:effectLst>
        </p:spPr>
        <p:txBody>
          <a:bodyPr/>
          <a:lstStyle/>
          <a:p>
            <a:endParaRPr lang="en-GB"/>
          </a:p>
        </p:txBody>
      </p:sp>
      <p:sp>
        <p:nvSpPr>
          <p:cNvPr id="21" name="Shape 19"/>
          <p:cNvSpPr/>
          <p:nvPr/>
        </p:nvSpPr>
        <p:spPr>
          <a:xfrm>
            <a:off x="8503920" y="1783080"/>
            <a:ext cx="566928" cy="566928"/>
          </a:xfrm>
          <a:prstGeom prst="ellipse">
            <a:avLst/>
          </a:prstGeom>
          <a:solidFill>
            <a:srgbClr val="146B7A"/>
          </a:solidFill>
          <a:ln/>
        </p:spPr>
        <p:txBody>
          <a:bodyPr/>
          <a:lstStyle/>
          <a:p>
            <a:endParaRPr lang="en-GB"/>
          </a:p>
        </p:txBody>
      </p:sp>
      <p:sp>
        <p:nvSpPr>
          <p:cNvPr id="22" name="Text 20"/>
          <p:cNvSpPr/>
          <p:nvPr/>
        </p:nvSpPr>
        <p:spPr>
          <a:xfrm>
            <a:off x="8503920" y="1783080"/>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23" name="Text 21"/>
          <p:cNvSpPr/>
          <p:nvPr/>
        </p:nvSpPr>
        <p:spPr>
          <a:xfrm>
            <a:off x="10835640" y="1737360"/>
            <a:ext cx="640080" cy="457200"/>
          </a:xfrm>
          <a:prstGeom prst="rect">
            <a:avLst/>
          </a:prstGeom>
          <a:noFill/>
          <a:ln/>
        </p:spPr>
        <p:txBody>
          <a:bodyPr wrap="square" lIns="0" tIns="0" rIns="0" bIns="0" rtlCol="0" anchor="ctr"/>
          <a:lstStyle/>
          <a:p>
            <a:pPr marL="0" indent="0" algn="r">
              <a:buNone/>
            </a:pPr>
            <a:r>
              <a:rPr lang="en-US" sz="2200" b="1" dirty="0">
                <a:solidFill>
                  <a:srgbClr val="146B7A"/>
                </a:solidFill>
                <a:latin typeface="Cambria" pitchFamily="34" charset="0"/>
                <a:ea typeface="Cambria" pitchFamily="34" charset="-122"/>
                <a:cs typeface="Cambria" pitchFamily="34" charset="-120"/>
              </a:rPr>
              <a:t>03</a:t>
            </a:r>
            <a:endParaRPr lang="en-US" sz="2200" dirty="0"/>
          </a:p>
        </p:txBody>
      </p:sp>
      <p:sp>
        <p:nvSpPr>
          <p:cNvPr id="24" name="Text 22"/>
          <p:cNvSpPr/>
          <p:nvPr/>
        </p:nvSpPr>
        <p:spPr>
          <a:xfrm>
            <a:off x="8503920" y="2514600"/>
            <a:ext cx="2971800" cy="868680"/>
          </a:xfrm>
          <a:prstGeom prst="rect">
            <a:avLst/>
          </a:prstGeom>
          <a:noFill/>
          <a:ln/>
        </p:spPr>
        <p:txBody>
          <a:bodyPr wrap="square" lIns="0" tIns="0" rIns="0" bIns="0" rtlCol="0" anchor="ctr"/>
          <a:lstStyle/>
          <a:p>
            <a:pPr marL="0" indent="0">
              <a:buNone/>
            </a:pPr>
            <a:r>
              <a:rPr lang="en-US" sz="2000" b="1" dirty="0">
                <a:solidFill>
                  <a:srgbClr val="1F2430"/>
                </a:solidFill>
                <a:latin typeface="Cambria" pitchFamily="34" charset="0"/>
                <a:ea typeface="Cambria" pitchFamily="34" charset="-122"/>
                <a:cs typeface="Cambria" pitchFamily="34" charset="-120"/>
              </a:rPr>
              <a:t>Flight Delay Prediction</a:t>
            </a:r>
            <a:endParaRPr lang="en-US" sz="2000" dirty="0"/>
          </a:p>
        </p:txBody>
      </p:sp>
      <p:sp>
        <p:nvSpPr>
          <p:cNvPr id="25" name="Text 23"/>
          <p:cNvSpPr/>
          <p:nvPr/>
        </p:nvSpPr>
        <p:spPr>
          <a:xfrm>
            <a:off x="8503920" y="3383280"/>
            <a:ext cx="2971800" cy="914400"/>
          </a:xfrm>
          <a:prstGeom prst="rect">
            <a:avLst/>
          </a:prstGeom>
          <a:noFill/>
          <a:ln/>
        </p:spPr>
        <p:txBody>
          <a:bodyPr wrap="square" lIns="0" tIns="0" rIns="0" bIns="0" rtlCol="0" anchor="ctr"/>
          <a:lstStyle/>
          <a:p>
            <a:pPr marL="0" indent="0">
              <a:buNone/>
            </a:pPr>
            <a:r>
              <a:rPr lang="en-US" sz="2000" dirty="0">
                <a:solidFill>
                  <a:srgbClr val="3D4457"/>
                </a:solidFill>
                <a:latin typeface="Calibri" pitchFamily="34" charset="0"/>
                <a:ea typeface="Calibri" pitchFamily="34" charset="-122"/>
                <a:cs typeface="Calibri" pitchFamily="34" charset="-120"/>
              </a:rPr>
              <a:t>Forecast arrival delay minutes across 7M+ 2024 U.S. flights.</a:t>
            </a:r>
            <a:endParaRPr lang="en-US" sz="2000" dirty="0"/>
          </a:p>
        </p:txBody>
      </p:sp>
      <p:sp>
        <p:nvSpPr>
          <p:cNvPr id="26" name="Shape 24"/>
          <p:cNvSpPr/>
          <p:nvPr/>
        </p:nvSpPr>
        <p:spPr>
          <a:xfrm>
            <a:off x="8503920" y="4480560"/>
            <a:ext cx="2971800" cy="0"/>
          </a:xfrm>
          <a:prstGeom prst="line">
            <a:avLst/>
          </a:prstGeom>
          <a:noFill/>
          <a:ln w="9525">
            <a:solidFill>
              <a:srgbClr val="146B7A">
                <a:alpha val="40000"/>
              </a:srgbClr>
            </a:solidFill>
            <a:prstDash val="solid"/>
          </a:ln>
        </p:spPr>
        <p:txBody>
          <a:bodyPr/>
          <a:lstStyle/>
          <a:p>
            <a:endParaRPr lang="en-GB"/>
          </a:p>
        </p:txBody>
      </p:sp>
      <p:sp>
        <p:nvSpPr>
          <p:cNvPr id="27" name="Text 25"/>
          <p:cNvSpPr/>
          <p:nvPr/>
        </p:nvSpPr>
        <p:spPr>
          <a:xfrm>
            <a:off x="8503920" y="4663440"/>
            <a:ext cx="2971800" cy="1371600"/>
          </a:xfrm>
          <a:prstGeom prst="rect">
            <a:avLst/>
          </a:prstGeom>
          <a:noFill/>
          <a:ln/>
        </p:spPr>
        <p:txBody>
          <a:bodyPr wrap="square" lIns="0" tIns="0" rIns="0" bIns="0" rtlCol="0" anchor="ctr"/>
          <a:lstStyle/>
          <a:p>
            <a:pPr marL="0" indent="0">
              <a:lnSpc>
                <a:spcPct val="150000"/>
              </a:lnSpc>
              <a:buNone/>
            </a:pPr>
            <a:r>
              <a:rPr lang="en-US" sz="1600" dirty="0">
                <a:solidFill>
                  <a:srgbClr val="6B7280"/>
                </a:solidFill>
                <a:latin typeface="Calibri" pitchFamily="34" charset="0"/>
                <a:ea typeface="Calibri" pitchFamily="34" charset="-122"/>
                <a:cs typeface="Calibri" pitchFamily="34" charset="-120"/>
              </a:rPr>
              <a:t>Features   </a:t>
            </a:r>
            <a:r>
              <a:rPr lang="en-US" sz="1600" b="1" dirty="0">
                <a:solidFill>
                  <a:srgbClr val="1F2430"/>
                </a:solidFill>
                <a:latin typeface="Calibri" pitchFamily="34" charset="0"/>
                <a:ea typeface="Calibri" pitchFamily="34" charset="-122"/>
                <a:cs typeface="Calibri" pitchFamily="34" charset="-120"/>
              </a:rPr>
              <a:t>35 cols</a:t>
            </a:r>
            <a:endParaRPr lang="en-US" sz="1600" dirty="0"/>
          </a:p>
          <a:p>
            <a:pPr marL="0" indent="0">
              <a:lnSpc>
                <a:spcPct val="150000"/>
              </a:lnSpc>
              <a:buNone/>
            </a:pPr>
            <a:r>
              <a:rPr lang="en-US" sz="1600" dirty="0">
                <a:solidFill>
                  <a:srgbClr val="6B7280"/>
                </a:solidFill>
                <a:latin typeface="Calibri" pitchFamily="34" charset="0"/>
                <a:ea typeface="Calibri" pitchFamily="34" charset="-122"/>
                <a:cs typeface="Calibri" pitchFamily="34" charset="-120"/>
              </a:rPr>
              <a:t>Task type   </a:t>
            </a:r>
            <a:r>
              <a:rPr lang="en-US" sz="1600" b="1" dirty="0">
                <a:solidFill>
                  <a:srgbClr val="1F2430"/>
                </a:solidFill>
                <a:latin typeface="Calibri" pitchFamily="34" charset="0"/>
                <a:ea typeface="Calibri" pitchFamily="34" charset="-122"/>
                <a:cs typeface="Calibri" pitchFamily="34" charset="-120"/>
              </a:rPr>
              <a:t>Regression</a:t>
            </a:r>
            <a:endParaRPr lang="en-US" sz="1600" dirty="0"/>
          </a:p>
        </p:txBody>
      </p:sp>
      <p:sp>
        <p:nvSpPr>
          <p:cNvPr id="28" name="Text 26"/>
          <p:cNvSpPr/>
          <p:nvPr/>
        </p:nvSpPr>
        <p:spPr>
          <a:xfrm>
            <a:off x="457200" y="6519672"/>
            <a:ext cx="73152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Capstone Part 1 · Lightning Talk</a:t>
            </a:r>
            <a:endParaRPr lang="en-US" sz="1000" dirty="0"/>
          </a:p>
        </p:txBody>
      </p:sp>
      <p:sp>
        <p:nvSpPr>
          <p:cNvPr id="29" name="Text 27"/>
          <p:cNvSpPr/>
          <p:nvPr/>
        </p:nvSpPr>
        <p:spPr>
          <a:xfrm>
            <a:off x="11365992" y="6519672"/>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C98A1B"/>
          </a:solidFill>
          <a:ln/>
        </p:spPr>
        <p:txBody>
          <a:bodyPr/>
          <a:lstStyle/>
          <a:p>
            <a:endParaRPr lang="en-GB"/>
          </a:p>
        </p:txBody>
      </p:sp>
      <p:sp>
        <p:nvSpPr>
          <p:cNvPr id="3" name="Text 1"/>
          <p:cNvSpPr/>
          <p:nvPr/>
        </p:nvSpPr>
        <p:spPr>
          <a:xfrm>
            <a:off x="457200" y="411480"/>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4" name="Text 2"/>
          <p:cNvSpPr/>
          <p:nvPr/>
        </p:nvSpPr>
        <p:spPr>
          <a:xfrm>
            <a:off x="1170432" y="402336"/>
            <a:ext cx="7315200" cy="274320"/>
          </a:xfrm>
          <a:prstGeom prst="rect">
            <a:avLst/>
          </a:prstGeom>
          <a:noFill/>
          <a:ln/>
        </p:spPr>
        <p:txBody>
          <a:bodyPr wrap="square" lIns="0" tIns="0" rIns="0" bIns="0" rtlCol="0" anchor="ctr"/>
          <a:lstStyle/>
          <a:p>
            <a:pPr marL="0" indent="0">
              <a:buNone/>
            </a:pPr>
            <a:r>
              <a:rPr lang="en-US" sz="1250" b="1" kern="0" spc="150" dirty="0">
                <a:solidFill>
                  <a:srgbClr val="C98A1B"/>
                </a:solidFill>
                <a:latin typeface="Calibri" pitchFamily="34" charset="0"/>
                <a:ea typeface="Calibri" pitchFamily="34" charset="-122"/>
                <a:cs typeface="Calibri" pitchFamily="34" charset="-120"/>
              </a:rPr>
              <a:t>TOPIC 01</a:t>
            </a:r>
            <a:endParaRPr lang="en-US" sz="1250" dirty="0"/>
          </a:p>
        </p:txBody>
      </p:sp>
      <p:sp>
        <p:nvSpPr>
          <p:cNvPr id="5" name="Text 3"/>
          <p:cNvSpPr/>
          <p:nvPr/>
        </p:nvSpPr>
        <p:spPr>
          <a:xfrm>
            <a:off x="1170432" y="640080"/>
            <a:ext cx="9875520" cy="502920"/>
          </a:xfrm>
          <a:prstGeom prst="rect">
            <a:avLst/>
          </a:prstGeom>
          <a:noFill/>
          <a:ln/>
        </p:spPr>
        <p:txBody>
          <a:bodyPr wrap="square" lIns="0" tIns="0" rIns="0" bIns="0" rtlCol="0" anchor="ctr"/>
          <a:lstStyle/>
          <a:p>
            <a:pPr marL="0" indent="0">
              <a:buNone/>
            </a:pPr>
            <a:r>
              <a:rPr lang="en-US" sz="2600" b="1" dirty="0">
                <a:solidFill>
                  <a:srgbClr val="1F2430"/>
                </a:solidFill>
                <a:latin typeface="Cambria" pitchFamily="34" charset="0"/>
                <a:ea typeface="Cambria" pitchFamily="34" charset="-122"/>
                <a:cs typeface="Cambria" pitchFamily="34" charset="-120"/>
              </a:rPr>
              <a:t>Credit Card Fraud Detection</a:t>
            </a:r>
            <a:endParaRPr lang="en-US" sz="2600" dirty="0"/>
          </a:p>
        </p:txBody>
      </p:sp>
      <p:sp>
        <p:nvSpPr>
          <p:cNvPr id="6" name="Text 4"/>
          <p:cNvSpPr/>
          <p:nvPr/>
        </p:nvSpPr>
        <p:spPr>
          <a:xfrm>
            <a:off x="548640" y="1417320"/>
            <a:ext cx="6492240" cy="274320"/>
          </a:xfrm>
          <a:prstGeom prst="rect">
            <a:avLst/>
          </a:prstGeom>
          <a:noFill/>
          <a:ln/>
        </p:spPr>
        <p:txBody>
          <a:bodyPr wrap="square" lIns="0" tIns="0" rIns="0" bIns="0" rtlCol="0" anchor="ctr"/>
          <a:lstStyle/>
          <a:p>
            <a:pPr marL="0" indent="0">
              <a:buNone/>
            </a:pPr>
            <a:r>
              <a:rPr lang="en-US" sz="1600" b="1" kern="0" spc="120" dirty="0">
                <a:solidFill>
                  <a:srgbClr val="C98A1B"/>
                </a:solidFill>
                <a:latin typeface="Calibri" pitchFamily="34" charset="0"/>
                <a:ea typeface="Calibri" pitchFamily="34" charset="-122"/>
                <a:cs typeface="Calibri" pitchFamily="34" charset="-120"/>
              </a:rPr>
              <a:t>PROBLEM STATEMENT</a:t>
            </a:r>
            <a:endParaRPr lang="en-US" sz="1600" dirty="0"/>
          </a:p>
        </p:txBody>
      </p:sp>
      <p:sp>
        <p:nvSpPr>
          <p:cNvPr id="7" name="Shape 5"/>
          <p:cNvSpPr/>
          <p:nvPr/>
        </p:nvSpPr>
        <p:spPr>
          <a:xfrm>
            <a:off x="548640" y="1709928"/>
            <a:ext cx="6492240" cy="1417320"/>
          </a:xfrm>
          <a:prstGeom prst="roundRect">
            <a:avLst>
              <a:gd name="adj" fmla="val 3871"/>
            </a:avLst>
          </a:prstGeom>
          <a:solidFill>
            <a:srgbClr val="F7F9FC"/>
          </a:solidFill>
          <a:ln/>
        </p:spPr>
        <p:txBody>
          <a:bodyPr/>
          <a:lstStyle/>
          <a:p>
            <a:endParaRPr lang="en-GB"/>
          </a:p>
        </p:txBody>
      </p:sp>
      <p:sp>
        <p:nvSpPr>
          <p:cNvPr id="8" name="Text 6"/>
          <p:cNvSpPr/>
          <p:nvPr/>
        </p:nvSpPr>
        <p:spPr>
          <a:xfrm>
            <a:off x="777240" y="1709928"/>
            <a:ext cx="6035040" cy="1417320"/>
          </a:xfrm>
          <a:prstGeom prst="rect">
            <a:avLst/>
          </a:prstGeom>
          <a:noFill/>
          <a:ln/>
        </p:spPr>
        <p:txBody>
          <a:bodyPr wrap="square" lIns="0" tIns="0" rIns="0" bIns="0" rtlCol="0" anchor="ctr"/>
          <a:lstStyle/>
          <a:p>
            <a:pPr marL="0" indent="0">
              <a:lnSpc>
                <a:spcPct val="120000"/>
              </a:lnSpc>
              <a:buNone/>
            </a:pPr>
            <a:r>
              <a:rPr lang="en-US" sz="1600" dirty="0">
                <a:solidFill>
                  <a:srgbClr val="313A4D"/>
                </a:solidFill>
                <a:latin typeface="Calibri" pitchFamily="34" charset="0"/>
                <a:ea typeface="Calibri" pitchFamily="34" charset="-122"/>
                <a:cs typeface="Calibri" pitchFamily="34" charset="-120"/>
              </a:rPr>
              <a:t>Credit card fraud costs financial institutions billions and puts customer security at risk. Detecting fraudulent transactions quickly and accurately is essential to protect customers and financial systems — this project analyzes transaction data to build a model that flags fraud.</a:t>
            </a:r>
            <a:endParaRPr lang="en-US" sz="1600" dirty="0"/>
          </a:p>
        </p:txBody>
      </p:sp>
      <p:sp>
        <p:nvSpPr>
          <p:cNvPr id="9" name="Text 7"/>
          <p:cNvSpPr/>
          <p:nvPr/>
        </p:nvSpPr>
        <p:spPr>
          <a:xfrm>
            <a:off x="548640" y="3337560"/>
            <a:ext cx="6492240" cy="274320"/>
          </a:xfrm>
          <a:prstGeom prst="rect">
            <a:avLst/>
          </a:prstGeom>
          <a:noFill/>
          <a:ln/>
        </p:spPr>
        <p:txBody>
          <a:bodyPr wrap="square" lIns="0" tIns="0" rIns="0" bIns="0" rtlCol="0" anchor="ctr"/>
          <a:lstStyle/>
          <a:p>
            <a:pPr marL="0" indent="0">
              <a:buNone/>
            </a:pPr>
            <a:r>
              <a:rPr lang="en-US" sz="1600" b="1" kern="0" spc="120" dirty="0">
                <a:solidFill>
                  <a:srgbClr val="C98A1B"/>
                </a:solidFill>
                <a:latin typeface="Calibri" pitchFamily="34" charset="0"/>
                <a:ea typeface="Calibri" pitchFamily="34" charset="-122"/>
                <a:cs typeface="Calibri" pitchFamily="34" charset="-120"/>
              </a:rPr>
              <a:t>GOALS</a:t>
            </a:r>
            <a:endParaRPr lang="en-US" sz="1600" dirty="0"/>
          </a:p>
        </p:txBody>
      </p:sp>
      <p:sp>
        <p:nvSpPr>
          <p:cNvPr id="10" name="Text 8"/>
          <p:cNvSpPr/>
          <p:nvPr/>
        </p:nvSpPr>
        <p:spPr>
          <a:xfrm>
            <a:off x="548640" y="3630168"/>
            <a:ext cx="6492240" cy="265176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232838"/>
                </a:solidFill>
                <a:latin typeface="Calibri" pitchFamily="34" charset="0"/>
                <a:ea typeface="Calibri" pitchFamily="34" charset="-122"/>
                <a:cs typeface="Calibri" pitchFamily="34" charset="-120"/>
              </a:rPr>
              <a:t>Explore the dataset and identify fraud patterns</a:t>
            </a:r>
            <a:endParaRPr lang="en-US" sz="1600" dirty="0"/>
          </a:p>
          <a:p>
            <a:pPr marL="342900" indent="-342900">
              <a:spcAft>
                <a:spcPts val="800"/>
              </a:spcAft>
              <a:buSzPct val="100000"/>
              <a:buChar char="✦"/>
            </a:pPr>
            <a:r>
              <a:rPr lang="en-US" sz="1600" dirty="0">
                <a:solidFill>
                  <a:srgbClr val="232838"/>
                </a:solidFill>
                <a:latin typeface="Calibri" pitchFamily="34" charset="0"/>
                <a:ea typeface="Calibri" pitchFamily="34" charset="-122"/>
                <a:cs typeface="Calibri" pitchFamily="34" charset="-120"/>
              </a:rPr>
              <a:t>Perform exploratory data analysis (EDA)</a:t>
            </a:r>
            <a:endParaRPr lang="en-US" sz="1600" dirty="0"/>
          </a:p>
          <a:p>
            <a:pPr marL="342900" indent="-342900">
              <a:spcAft>
                <a:spcPts val="800"/>
              </a:spcAft>
              <a:buSzPct val="100000"/>
              <a:buChar char="✦"/>
            </a:pPr>
            <a:r>
              <a:rPr lang="en-US" sz="1600" dirty="0">
                <a:solidFill>
                  <a:srgbClr val="232838"/>
                </a:solidFill>
                <a:latin typeface="Calibri" pitchFamily="34" charset="0"/>
                <a:ea typeface="Calibri" pitchFamily="34" charset="-122"/>
                <a:cs typeface="Calibri" pitchFamily="34" charset="-120"/>
              </a:rPr>
              <a:t>Build and compare classification models</a:t>
            </a:r>
            <a:endParaRPr lang="en-US" sz="1600" dirty="0"/>
          </a:p>
          <a:p>
            <a:pPr marL="342900" indent="-342900">
              <a:spcAft>
                <a:spcPts val="800"/>
              </a:spcAft>
              <a:buSzPct val="100000"/>
              <a:buChar char="✦"/>
            </a:pPr>
            <a:r>
              <a:rPr lang="en-US" sz="1600" dirty="0">
                <a:solidFill>
                  <a:srgbClr val="232838"/>
                </a:solidFill>
                <a:latin typeface="Calibri" pitchFamily="34" charset="0"/>
                <a:ea typeface="Calibri" pitchFamily="34" charset="-122"/>
                <a:cs typeface="Calibri" pitchFamily="34" charset="-120"/>
              </a:rPr>
              <a:t>Select the best-performing model for fraud detection</a:t>
            </a:r>
            <a:endParaRPr lang="en-US" sz="1600" dirty="0"/>
          </a:p>
        </p:txBody>
      </p:sp>
      <p:sp>
        <p:nvSpPr>
          <p:cNvPr id="11" name="Shape 9"/>
          <p:cNvSpPr/>
          <p:nvPr/>
        </p:nvSpPr>
        <p:spPr>
          <a:xfrm>
            <a:off x="7360920" y="1417320"/>
            <a:ext cx="4279392" cy="4892040"/>
          </a:xfrm>
          <a:prstGeom prst="roundRect">
            <a:avLst>
              <a:gd name="adj" fmla="val 1709"/>
            </a:avLst>
          </a:prstGeom>
          <a:solidFill>
            <a:srgbClr val="FBF1DE"/>
          </a:solidFill>
          <a:ln/>
          <a:effectLst>
            <a:outerShdw blurRad="101600" dist="38100" dir="5400000" algn="bl" rotWithShape="0">
              <a:srgbClr val="9AA5C4">
                <a:alpha val="22000"/>
              </a:srgbClr>
            </a:outerShdw>
          </a:effectLst>
        </p:spPr>
        <p:txBody>
          <a:bodyPr/>
          <a:lstStyle/>
          <a:p>
            <a:endParaRPr lang="en-GB"/>
          </a:p>
        </p:txBody>
      </p:sp>
      <p:sp>
        <p:nvSpPr>
          <p:cNvPr id="12" name="Text 10"/>
          <p:cNvSpPr/>
          <p:nvPr/>
        </p:nvSpPr>
        <p:spPr>
          <a:xfrm>
            <a:off x="7680960" y="1691640"/>
            <a:ext cx="3639312" cy="274320"/>
          </a:xfrm>
          <a:prstGeom prst="rect">
            <a:avLst/>
          </a:prstGeom>
          <a:noFill/>
          <a:ln/>
        </p:spPr>
        <p:txBody>
          <a:bodyPr wrap="square" lIns="0" tIns="0" rIns="0" bIns="0" rtlCol="0" anchor="ctr"/>
          <a:lstStyle/>
          <a:p>
            <a:pPr marL="0" indent="0">
              <a:buNone/>
            </a:pPr>
            <a:r>
              <a:rPr lang="en-US" sz="1600" b="1" kern="0" spc="120" dirty="0">
                <a:solidFill>
                  <a:srgbClr val="C98A1B"/>
                </a:solidFill>
                <a:latin typeface="Calibri" pitchFamily="34" charset="0"/>
                <a:ea typeface="Calibri" pitchFamily="34" charset="-122"/>
                <a:cs typeface="Calibri" pitchFamily="34" charset="-120"/>
              </a:rPr>
              <a:t>DATA SNAPSHOT</a:t>
            </a:r>
            <a:endParaRPr lang="en-US" sz="1600" dirty="0"/>
          </a:p>
        </p:txBody>
      </p:sp>
      <p:sp>
        <p:nvSpPr>
          <p:cNvPr id="13" name="Text 11"/>
          <p:cNvSpPr/>
          <p:nvPr/>
        </p:nvSpPr>
        <p:spPr>
          <a:xfrm>
            <a:off x="7680960" y="2194560"/>
            <a:ext cx="3639312" cy="237744"/>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SOURCE</a:t>
            </a:r>
            <a:endParaRPr lang="en-US" sz="1050" dirty="0"/>
          </a:p>
        </p:txBody>
      </p:sp>
      <p:sp>
        <p:nvSpPr>
          <p:cNvPr id="14" name="Text 12"/>
          <p:cNvSpPr/>
          <p:nvPr/>
        </p:nvSpPr>
        <p:spPr>
          <a:xfrm>
            <a:off x="7680960" y="2414016"/>
            <a:ext cx="3639312" cy="411480"/>
          </a:xfrm>
          <a:prstGeom prst="rect">
            <a:avLst/>
          </a:prstGeom>
          <a:noFill/>
          <a:ln/>
        </p:spPr>
        <p:txBody>
          <a:bodyPr wrap="square" lIns="0" tIns="0" rIns="0" bIns="0" rtlCol="0" anchor="ctr"/>
          <a:lstStyle/>
          <a:p>
            <a:pPr marL="0" indent="0">
              <a:buNone/>
            </a:pPr>
            <a:r>
              <a:rPr lang="en-US" sz="1450" b="1" dirty="0">
                <a:solidFill>
                  <a:srgbClr val="1F2430"/>
                </a:solidFill>
                <a:latin typeface="Cambria" pitchFamily="34" charset="0"/>
                <a:ea typeface="Cambria" pitchFamily="34" charset="-122"/>
                <a:cs typeface="Cambria" pitchFamily="34" charset="-120"/>
              </a:rPr>
              <a:t>Kaggle — Credit Card Fraud Detection Dataset</a:t>
            </a:r>
            <a:endParaRPr lang="en-US" sz="1450" dirty="0"/>
          </a:p>
        </p:txBody>
      </p:sp>
      <p:sp>
        <p:nvSpPr>
          <p:cNvPr id="15" name="Shape 13"/>
          <p:cNvSpPr/>
          <p:nvPr/>
        </p:nvSpPr>
        <p:spPr>
          <a:xfrm>
            <a:off x="7680960" y="2688336"/>
            <a:ext cx="3639312" cy="0"/>
          </a:xfrm>
          <a:prstGeom prst="line">
            <a:avLst/>
          </a:prstGeom>
          <a:noFill/>
          <a:ln w="6350">
            <a:solidFill>
              <a:srgbClr val="C98A1B">
                <a:alpha val="30000"/>
              </a:srgbClr>
            </a:solidFill>
            <a:prstDash val="solid"/>
          </a:ln>
        </p:spPr>
        <p:txBody>
          <a:bodyPr/>
          <a:lstStyle/>
          <a:p>
            <a:endParaRPr lang="en-GB"/>
          </a:p>
        </p:txBody>
      </p:sp>
      <p:sp>
        <p:nvSpPr>
          <p:cNvPr id="16" name="Text 14"/>
          <p:cNvSpPr/>
          <p:nvPr/>
        </p:nvSpPr>
        <p:spPr>
          <a:xfrm>
            <a:off x="7680960" y="2816352"/>
            <a:ext cx="3639312" cy="237744"/>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ROWS</a:t>
            </a:r>
            <a:endParaRPr lang="en-US" sz="1050" dirty="0"/>
          </a:p>
        </p:txBody>
      </p:sp>
      <p:sp>
        <p:nvSpPr>
          <p:cNvPr id="17" name="Text 15"/>
          <p:cNvSpPr/>
          <p:nvPr/>
        </p:nvSpPr>
        <p:spPr>
          <a:xfrm>
            <a:off x="7680960" y="3035808"/>
            <a:ext cx="3639312" cy="411480"/>
          </a:xfrm>
          <a:prstGeom prst="rect">
            <a:avLst/>
          </a:prstGeom>
          <a:noFill/>
          <a:ln/>
        </p:spPr>
        <p:txBody>
          <a:bodyPr wrap="square" lIns="0" tIns="0" rIns="0" bIns="0" rtlCol="0" anchor="ctr"/>
          <a:lstStyle/>
          <a:p>
            <a:pPr marL="0" indent="0">
              <a:buNone/>
            </a:pPr>
            <a:r>
              <a:rPr lang="en-US" sz="2000" b="1" dirty="0">
                <a:solidFill>
                  <a:srgbClr val="1F2430"/>
                </a:solidFill>
                <a:latin typeface="Cambria" pitchFamily="34" charset="0"/>
                <a:ea typeface="Cambria" pitchFamily="34" charset="-122"/>
                <a:cs typeface="Cambria" pitchFamily="34" charset="-120"/>
              </a:rPr>
              <a:t>1,852,394</a:t>
            </a:r>
            <a:endParaRPr lang="en-US" sz="2000" dirty="0"/>
          </a:p>
        </p:txBody>
      </p:sp>
      <p:sp>
        <p:nvSpPr>
          <p:cNvPr id="18" name="Shape 16"/>
          <p:cNvSpPr/>
          <p:nvPr/>
        </p:nvSpPr>
        <p:spPr>
          <a:xfrm>
            <a:off x="7680960" y="3438144"/>
            <a:ext cx="3639312" cy="0"/>
          </a:xfrm>
          <a:prstGeom prst="line">
            <a:avLst/>
          </a:prstGeom>
          <a:noFill/>
          <a:ln w="6350">
            <a:solidFill>
              <a:srgbClr val="C98A1B">
                <a:alpha val="30000"/>
              </a:srgbClr>
            </a:solidFill>
            <a:prstDash val="solid"/>
          </a:ln>
        </p:spPr>
        <p:txBody>
          <a:bodyPr/>
          <a:lstStyle/>
          <a:p>
            <a:endParaRPr lang="en-GB"/>
          </a:p>
        </p:txBody>
      </p:sp>
      <p:sp>
        <p:nvSpPr>
          <p:cNvPr id="19" name="Text 17"/>
          <p:cNvSpPr/>
          <p:nvPr/>
        </p:nvSpPr>
        <p:spPr>
          <a:xfrm>
            <a:off x="7680960" y="3566160"/>
            <a:ext cx="3639312" cy="237744"/>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COLUMNS</a:t>
            </a:r>
            <a:endParaRPr lang="en-US" sz="1050" dirty="0"/>
          </a:p>
        </p:txBody>
      </p:sp>
      <p:sp>
        <p:nvSpPr>
          <p:cNvPr id="20" name="Text 18"/>
          <p:cNvSpPr/>
          <p:nvPr/>
        </p:nvSpPr>
        <p:spPr>
          <a:xfrm>
            <a:off x="7680960" y="3785616"/>
            <a:ext cx="3639312" cy="411480"/>
          </a:xfrm>
          <a:prstGeom prst="rect">
            <a:avLst/>
          </a:prstGeom>
          <a:noFill/>
          <a:ln/>
        </p:spPr>
        <p:txBody>
          <a:bodyPr wrap="square" lIns="0" tIns="0" rIns="0" bIns="0" rtlCol="0" anchor="ctr"/>
          <a:lstStyle/>
          <a:p>
            <a:pPr marL="0" indent="0">
              <a:buNone/>
            </a:pPr>
            <a:r>
              <a:rPr lang="en-US" sz="1450" b="1" dirty="0">
                <a:solidFill>
                  <a:srgbClr val="1F2430"/>
                </a:solidFill>
                <a:latin typeface="Cambria" pitchFamily="34" charset="0"/>
                <a:ea typeface="Cambria" pitchFamily="34" charset="-122"/>
                <a:cs typeface="Cambria" pitchFamily="34" charset="-120"/>
              </a:rPr>
              <a:t>23 features</a:t>
            </a:r>
            <a:endParaRPr lang="en-US" sz="1450" dirty="0"/>
          </a:p>
        </p:txBody>
      </p:sp>
      <p:sp>
        <p:nvSpPr>
          <p:cNvPr id="21" name="Shape 19"/>
          <p:cNvSpPr/>
          <p:nvPr/>
        </p:nvSpPr>
        <p:spPr>
          <a:xfrm>
            <a:off x="7680960" y="4059936"/>
            <a:ext cx="3639312" cy="0"/>
          </a:xfrm>
          <a:prstGeom prst="line">
            <a:avLst/>
          </a:prstGeom>
          <a:noFill/>
          <a:ln w="6350">
            <a:solidFill>
              <a:srgbClr val="C98A1B">
                <a:alpha val="30000"/>
              </a:srgbClr>
            </a:solidFill>
            <a:prstDash val="solid"/>
          </a:ln>
        </p:spPr>
        <p:txBody>
          <a:bodyPr/>
          <a:lstStyle/>
          <a:p>
            <a:endParaRPr lang="en-GB"/>
          </a:p>
        </p:txBody>
      </p:sp>
      <p:sp>
        <p:nvSpPr>
          <p:cNvPr id="22" name="Text 20"/>
          <p:cNvSpPr/>
          <p:nvPr/>
        </p:nvSpPr>
        <p:spPr>
          <a:xfrm>
            <a:off x="7680960" y="4187952"/>
            <a:ext cx="3639312" cy="237744"/>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TARGET</a:t>
            </a:r>
            <a:endParaRPr lang="en-US" sz="1050" dirty="0"/>
          </a:p>
        </p:txBody>
      </p:sp>
      <p:sp>
        <p:nvSpPr>
          <p:cNvPr id="23" name="Text 21"/>
          <p:cNvSpPr/>
          <p:nvPr/>
        </p:nvSpPr>
        <p:spPr>
          <a:xfrm>
            <a:off x="7680960" y="4407408"/>
            <a:ext cx="3639312" cy="411480"/>
          </a:xfrm>
          <a:prstGeom prst="rect">
            <a:avLst/>
          </a:prstGeom>
          <a:noFill/>
          <a:ln/>
        </p:spPr>
        <p:txBody>
          <a:bodyPr wrap="square" lIns="0" tIns="0" rIns="0" bIns="0" rtlCol="0" anchor="ctr"/>
          <a:lstStyle/>
          <a:p>
            <a:pPr marL="0" indent="0">
              <a:buNone/>
            </a:pPr>
            <a:r>
              <a:rPr lang="en-US" sz="1450" b="1" dirty="0">
                <a:solidFill>
                  <a:srgbClr val="1F2430"/>
                </a:solidFill>
                <a:latin typeface="Cambria" pitchFamily="34" charset="0"/>
                <a:ea typeface="Cambria" pitchFamily="34" charset="-122"/>
                <a:cs typeface="Cambria" pitchFamily="34" charset="-120"/>
              </a:rPr>
              <a:t>is_fraud (0 = legit, 1 = fraud)</a:t>
            </a:r>
            <a:endParaRPr lang="en-US" sz="1450" dirty="0"/>
          </a:p>
        </p:txBody>
      </p:sp>
      <p:sp>
        <p:nvSpPr>
          <p:cNvPr id="24" name="Shape 22"/>
          <p:cNvSpPr/>
          <p:nvPr/>
        </p:nvSpPr>
        <p:spPr>
          <a:xfrm>
            <a:off x="7680960" y="4681728"/>
            <a:ext cx="3639312" cy="0"/>
          </a:xfrm>
          <a:prstGeom prst="line">
            <a:avLst/>
          </a:prstGeom>
          <a:noFill/>
          <a:ln w="6350">
            <a:solidFill>
              <a:srgbClr val="C98A1B">
                <a:alpha val="30000"/>
              </a:srgbClr>
            </a:solidFill>
            <a:prstDash val="solid"/>
          </a:ln>
        </p:spPr>
        <p:txBody>
          <a:bodyPr/>
          <a:lstStyle/>
          <a:p>
            <a:endParaRPr lang="en-GB"/>
          </a:p>
        </p:txBody>
      </p:sp>
      <p:sp>
        <p:nvSpPr>
          <p:cNvPr id="25" name="Text 23"/>
          <p:cNvSpPr/>
          <p:nvPr/>
        </p:nvSpPr>
        <p:spPr>
          <a:xfrm>
            <a:off x="7680960" y="4809744"/>
            <a:ext cx="3639312" cy="237744"/>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TASK</a:t>
            </a:r>
            <a:endParaRPr lang="en-US" sz="1050" dirty="0"/>
          </a:p>
        </p:txBody>
      </p:sp>
      <p:sp>
        <p:nvSpPr>
          <p:cNvPr id="26" name="Text 24"/>
          <p:cNvSpPr/>
          <p:nvPr/>
        </p:nvSpPr>
        <p:spPr>
          <a:xfrm>
            <a:off x="7680960" y="5029200"/>
            <a:ext cx="3639312" cy="411480"/>
          </a:xfrm>
          <a:prstGeom prst="rect">
            <a:avLst/>
          </a:prstGeom>
          <a:noFill/>
          <a:ln/>
        </p:spPr>
        <p:txBody>
          <a:bodyPr wrap="square" lIns="0" tIns="0" rIns="0" bIns="0" rtlCol="0" anchor="ctr"/>
          <a:lstStyle/>
          <a:p>
            <a:pPr marL="0" indent="0">
              <a:buNone/>
            </a:pPr>
            <a:r>
              <a:rPr lang="en-US" sz="1450" b="1" dirty="0">
                <a:solidFill>
                  <a:srgbClr val="1F2430"/>
                </a:solidFill>
                <a:latin typeface="Cambria" pitchFamily="34" charset="0"/>
                <a:ea typeface="Cambria" pitchFamily="34" charset="-122"/>
                <a:cs typeface="Cambria" pitchFamily="34" charset="-120"/>
              </a:rPr>
              <a:t>Binary Classification</a:t>
            </a:r>
            <a:endParaRPr lang="en-US" sz="1450" dirty="0"/>
          </a:p>
        </p:txBody>
      </p:sp>
      <p:sp>
        <p:nvSpPr>
          <p:cNvPr id="27" name="Text 25"/>
          <p:cNvSpPr/>
          <p:nvPr/>
        </p:nvSpPr>
        <p:spPr>
          <a:xfrm>
            <a:off x="457200" y="6519672"/>
            <a:ext cx="73152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Capstone Part 1 · Lightning Talk</a:t>
            </a:r>
            <a:endParaRPr lang="en-US" sz="1000" dirty="0"/>
          </a:p>
        </p:txBody>
      </p:sp>
      <p:sp>
        <p:nvSpPr>
          <p:cNvPr id="28" name="Text 26"/>
          <p:cNvSpPr/>
          <p:nvPr/>
        </p:nvSpPr>
        <p:spPr>
          <a:xfrm>
            <a:off x="11365992" y="6519672"/>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C98A1B"/>
          </a:solidFill>
          <a:ln/>
        </p:spPr>
        <p:txBody>
          <a:bodyPr/>
          <a:lstStyle/>
          <a:p>
            <a:endParaRPr lang="en-GB"/>
          </a:p>
        </p:txBody>
      </p:sp>
      <p:sp>
        <p:nvSpPr>
          <p:cNvPr id="3" name="Text 1"/>
          <p:cNvSpPr/>
          <p:nvPr/>
        </p:nvSpPr>
        <p:spPr>
          <a:xfrm>
            <a:off x="457200" y="411480"/>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4" name="Text 2"/>
          <p:cNvSpPr/>
          <p:nvPr/>
        </p:nvSpPr>
        <p:spPr>
          <a:xfrm>
            <a:off x="1170432" y="402336"/>
            <a:ext cx="7315200" cy="274320"/>
          </a:xfrm>
          <a:prstGeom prst="rect">
            <a:avLst/>
          </a:prstGeom>
          <a:noFill/>
          <a:ln/>
        </p:spPr>
        <p:txBody>
          <a:bodyPr wrap="square" lIns="0" tIns="0" rIns="0" bIns="0" rtlCol="0" anchor="ctr"/>
          <a:lstStyle/>
          <a:p>
            <a:pPr marL="0" indent="0">
              <a:buNone/>
            </a:pPr>
            <a:r>
              <a:rPr lang="en-US" sz="1250" b="1" kern="0" spc="150" dirty="0">
                <a:solidFill>
                  <a:srgbClr val="C98A1B"/>
                </a:solidFill>
                <a:latin typeface="Calibri" pitchFamily="34" charset="0"/>
                <a:ea typeface="Calibri" pitchFamily="34" charset="-122"/>
                <a:cs typeface="Calibri" pitchFamily="34" charset="-120"/>
              </a:rPr>
              <a:t>TOPIC 01 — EDA FINDINGS</a:t>
            </a:r>
            <a:endParaRPr lang="en-US" sz="1250" dirty="0"/>
          </a:p>
        </p:txBody>
      </p:sp>
      <p:sp>
        <p:nvSpPr>
          <p:cNvPr id="5" name="Text 3"/>
          <p:cNvSpPr/>
          <p:nvPr/>
        </p:nvSpPr>
        <p:spPr>
          <a:xfrm>
            <a:off x="1170432" y="640080"/>
            <a:ext cx="9875520" cy="502920"/>
          </a:xfrm>
          <a:prstGeom prst="rect">
            <a:avLst/>
          </a:prstGeom>
          <a:noFill/>
          <a:ln/>
        </p:spPr>
        <p:txBody>
          <a:bodyPr wrap="square" lIns="0" tIns="0" rIns="0" bIns="0" rtlCol="0" anchor="ctr"/>
          <a:lstStyle/>
          <a:p>
            <a:pPr marL="0" indent="0">
              <a:buNone/>
            </a:pPr>
            <a:r>
              <a:rPr lang="en-US" sz="2600" b="1" dirty="0">
                <a:solidFill>
                  <a:srgbClr val="1F2430"/>
                </a:solidFill>
                <a:latin typeface="Cambria" pitchFamily="34" charset="0"/>
                <a:ea typeface="Cambria" pitchFamily="34" charset="-122"/>
                <a:cs typeface="Cambria" pitchFamily="34" charset="-120"/>
              </a:rPr>
              <a:t>Credit Card Fraud Detection</a:t>
            </a:r>
            <a:endParaRPr lang="en-US" sz="2600" dirty="0"/>
          </a:p>
        </p:txBody>
      </p:sp>
      <p:sp>
        <p:nvSpPr>
          <p:cNvPr id="6" name="Shape 4"/>
          <p:cNvSpPr/>
          <p:nvPr/>
        </p:nvSpPr>
        <p:spPr>
          <a:xfrm>
            <a:off x="548640" y="1417320"/>
            <a:ext cx="3514344" cy="1417320"/>
          </a:xfrm>
          <a:prstGeom prst="roundRect">
            <a:avLst>
              <a:gd name="adj" fmla="val 5161"/>
            </a:avLst>
          </a:prstGeom>
          <a:solidFill>
            <a:srgbClr val="FBF1DE"/>
          </a:solidFill>
          <a:ln/>
        </p:spPr>
        <p:txBody>
          <a:bodyPr/>
          <a:lstStyle/>
          <a:p>
            <a:endParaRPr lang="en-GB"/>
          </a:p>
        </p:txBody>
      </p:sp>
      <p:sp>
        <p:nvSpPr>
          <p:cNvPr id="7" name="Text 5"/>
          <p:cNvSpPr/>
          <p:nvPr/>
        </p:nvSpPr>
        <p:spPr>
          <a:xfrm>
            <a:off x="777240" y="1581912"/>
            <a:ext cx="3057144" cy="274320"/>
          </a:xfrm>
          <a:prstGeom prst="rect">
            <a:avLst/>
          </a:prstGeom>
          <a:noFill/>
          <a:ln/>
        </p:spPr>
        <p:txBody>
          <a:bodyPr wrap="square" lIns="0" tIns="0" rIns="0" bIns="0" rtlCol="0" anchor="ctr"/>
          <a:lstStyle/>
          <a:p>
            <a:pPr marL="0" indent="0">
              <a:buNone/>
            </a:pPr>
            <a:r>
              <a:rPr lang="en-US" sz="1200" b="1" kern="0" spc="100" dirty="0">
                <a:solidFill>
                  <a:srgbClr val="C98A1B"/>
                </a:solidFill>
                <a:latin typeface="Calibri" pitchFamily="34" charset="0"/>
                <a:ea typeface="Calibri" pitchFamily="34" charset="-122"/>
                <a:cs typeface="Calibri" pitchFamily="34" charset="-120"/>
              </a:rPr>
              <a:t>PROBLEM TYPE</a:t>
            </a:r>
            <a:endParaRPr lang="en-US" sz="1200" dirty="0"/>
          </a:p>
        </p:txBody>
      </p:sp>
      <p:sp>
        <p:nvSpPr>
          <p:cNvPr id="8" name="Text 6"/>
          <p:cNvSpPr/>
          <p:nvPr/>
        </p:nvSpPr>
        <p:spPr>
          <a:xfrm>
            <a:off x="777240" y="1874520"/>
            <a:ext cx="3057144" cy="594360"/>
          </a:xfrm>
          <a:prstGeom prst="rect">
            <a:avLst/>
          </a:prstGeom>
          <a:noFill/>
          <a:ln/>
        </p:spPr>
        <p:txBody>
          <a:bodyPr wrap="square" lIns="0" tIns="0" rIns="0" bIns="0" rtlCol="0" anchor="ctr"/>
          <a:lstStyle/>
          <a:p>
            <a:pPr marL="0" indent="0">
              <a:buNone/>
            </a:pPr>
            <a:r>
              <a:rPr lang="en-US" sz="2600" b="1" dirty="0">
                <a:solidFill>
                  <a:srgbClr val="1F2430"/>
                </a:solidFill>
                <a:latin typeface="Cambria" pitchFamily="34" charset="0"/>
                <a:ea typeface="Cambria" pitchFamily="34" charset="-122"/>
                <a:cs typeface="Cambria" pitchFamily="34" charset="-120"/>
              </a:rPr>
              <a:t>Classification</a:t>
            </a:r>
            <a:endParaRPr lang="en-US" sz="2600" dirty="0"/>
          </a:p>
        </p:txBody>
      </p:sp>
      <p:sp>
        <p:nvSpPr>
          <p:cNvPr id="9" name="Text 7"/>
          <p:cNvSpPr/>
          <p:nvPr/>
        </p:nvSpPr>
        <p:spPr>
          <a:xfrm>
            <a:off x="777240" y="2459736"/>
            <a:ext cx="3057144"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target is_fraud is binary (0/1)</a:t>
            </a:r>
            <a:endParaRPr lang="en-US" sz="1400" dirty="0"/>
          </a:p>
        </p:txBody>
      </p:sp>
      <p:sp>
        <p:nvSpPr>
          <p:cNvPr id="10" name="Shape 8"/>
          <p:cNvSpPr/>
          <p:nvPr/>
        </p:nvSpPr>
        <p:spPr>
          <a:xfrm>
            <a:off x="4337304" y="1417320"/>
            <a:ext cx="3514344" cy="1417320"/>
          </a:xfrm>
          <a:prstGeom prst="roundRect">
            <a:avLst>
              <a:gd name="adj" fmla="val 5161"/>
            </a:avLst>
          </a:prstGeom>
          <a:solidFill>
            <a:srgbClr val="FBF1DE"/>
          </a:solidFill>
          <a:ln/>
        </p:spPr>
        <p:txBody>
          <a:bodyPr/>
          <a:lstStyle/>
          <a:p>
            <a:endParaRPr lang="en-GB"/>
          </a:p>
        </p:txBody>
      </p:sp>
      <p:sp>
        <p:nvSpPr>
          <p:cNvPr id="11" name="Text 9"/>
          <p:cNvSpPr/>
          <p:nvPr/>
        </p:nvSpPr>
        <p:spPr>
          <a:xfrm>
            <a:off x="4565904" y="1581912"/>
            <a:ext cx="3057144" cy="274320"/>
          </a:xfrm>
          <a:prstGeom prst="rect">
            <a:avLst/>
          </a:prstGeom>
          <a:noFill/>
          <a:ln/>
        </p:spPr>
        <p:txBody>
          <a:bodyPr wrap="square" lIns="0" tIns="0" rIns="0" bIns="0" rtlCol="0" anchor="ctr"/>
          <a:lstStyle/>
          <a:p>
            <a:pPr marL="0" indent="0">
              <a:buNone/>
            </a:pPr>
            <a:r>
              <a:rPr lang="en-US" sz="1200" b="1" kern="0" spc="100" dirty="0">
                <a:solidFill>
                  <a:srgbClr val="C98A1B"/>
                </a:solidFill>
                <a:latin typeface="Calibri" pitchFamily="34" charset="0"/>
                <a:ea typeface="Calibri" pitchFamily="34" charset="-122"/>
                <a:cs typeface="Calibri" pitchFamily="34" charset="-120"/>
              </a:rPr>
              <a:t>MISSING VALUES</a:t>
            </a:r>
            <a:endParaRPr lang="en-US" sz="1200" dirty="0"/>
          </a:p>
        </p:txBody>
      </p:sp>
      <p:sp>
        <p:nvSpPr>
          <p:cNvPr id="12" name="Text 10"/>
          <p:cNvSpPr/>
          <p:nvPr/>
        </p:nvSpPr>
        <p:spPr>
          <a:xfrm>
            <a:off x="4565904" y="1874520"/>
            <a:ext cx="3057144" cy="594360"/>
          </a:xfrm>
          <a:prstGeom prst="rect">
            <a:avLst/>
          </a:prstGeom>
          <a:noFill/>
          <a:ln/>
        </p:spPr>
        <p:txBody>
          <a:bodyPr wrap="square" lIns="0" tIns="0" rIns="0" bIns="0" rtlCol="0" anchor="ctr"/>
          <a:lstStyle/>
          <a:p>
            <a:pPr marL="0" indent="0">
              <a:buNone/>
            </a:pPr>
            <a:r>
              <a:rPr lang="en-US" sz="2600" b="1" dirty="0">
                <a:solidFill>
                  <a:srgbClr val="1F2430"/>
                </a:solidFill>
                <a:latin typeface="Cambria" pitchFamily="34" charset="0"/>
                <a:ea typeface="Cambria" pitchFamily="34" charset="-122"/>
                <a:cs typeface="Cambria" pitchFamily="34" charset="-120"/>
              </a:rPr>
              <a:t>0</a:t>
            </a:r>
            <a:endParaRPr lang="en-US" sz="2600" dirty="0"/>
          </a:p>
        </p:txBody>
      </p:sp>
      <p:sp>
        <p:nvSpPr>
          <p:cNvPr id="13" name="Text 11"/>
          <p:cNvSpPr/>
          <p:nvPr/>
        </p:nvSpPr>
        <p:spPr>
          <a:xfrm>
            <a:off x="4565904" y="2459736"/>
            <a:ext cx="3057144"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no imputation needed</a:t>
            </a:r>
            <a:endParaRPr lang="en-US" sz="1400" dirty="0"/>
          </a:p>
        </p:txBody>
      </p:sp>
      <p:sp>
        <p:nvSpPr>
          <p:cNvPr id="14" name="Shape 12"/>
          <p:cNvSpPr/>
          <p:nvPr/>
        </p:nvSpPr>
        <p:spPr>
          <a:xfrm>
            <a:off x="8125968" y="1417320"/>
            <a:ext cx="3514344" cy="1417320"/>
          </a:xfrm>
          <a:prstGeom prst="roundRect">
            <a:avLst>
              <a:gd name="adj" fmla="val 5161"/>
            </a:avLst>
          </a:prstGeom>
          <a:solidFill>
            <a:srgbClr val="FBF1DE"/>
          </a:solidFill>
          <a:ln/>
        </p:spPr>
        <p:txBody>
          <a:bodyPr/>
          <a:lstStyle/>
          <a:p>
            <a:endParaRPr lang="en-GB" sz="1400"/>
          </a:p>
        </p:txBody>
      </p:sp>
      <p:sp>
        <p:nvSpPr>
          <p:cNvPr id="15" name="Text 13"/>
          <p:cNvSpPr/>
          <p:nvPr/>
        </p:nvSpPr>
        <p:spPr>
          <a:xfrm>
            <a:off x="8354568" y="1581912"/>
            <a:ext cx="3057144" cy="274320"/>
          </a:xfrm>
          <a:prstGeom prst="rect">
            <a:avLst/>
          </a:prstGeom>
          <a:noFill/>
          <a:ln/>
        </p:spPr>
        <p:txBody>
          <a:bodyPr wrap="square" lIns="0" tIns="0" rIns="0" bIns="0" rtlCol="0" anchor="ctr"/>
          <a:lstStyle/>
          <a:p>
            <a:pPr marL="0" indent="0">
              <a:buNone/>
            </a:pPr>
            <a:r>
              <a:rPr lang="en-US" sz="1200" b="1" kern="0" spc="100" dirty="0">
                <a:solidFill>
                  <a:srgbClr val="C98A1B"/>
                </a:solidFill>
                <a:latin typeface="Calibri" pitchFamily="34" charset="0"/>
                <a:ea typeface="Calibri" pitchFamily="34" charset="-122"/>
                <a:cs typeface="Calibri" pitchFamily="34" charset="-120"/>
              </a:rPr>
              <a:t>FEATURE MIX</a:t>
            </a:r>
            <a:endParaRPr lang="en-US" sz="1200" dirty="0"/>
          </a:p>
        </p:txBody>
      </p:sp>
      <p:sp>
        <p:nvSpPr>
          <p:cNvPr id="16" name="Text 14"/>
          <p:cNvSpPr/>
          <p:nvPr/>
        </p:nvSpPr>
        <p:spPr>
          <a:xfrm>
            <a:off x="8354568" y="1874520"/>
            <a:ext cx="3057144" cy="594360"/>
          </a:xfrm>
          <a:prstGeom prst="rect">
            <a:avLst/>
          </a:prstGeom>
          <a:noFill/>
          <a:ln/>
        </p:spPr>
        <p:txBody>
          <a:bodyPr wrap="square" lIns="0" tIns="0" rIns="0" bIns="0" rtlCol="0" anchor="ctr"/>
          <a:lstStyle/>
          <a:p>
            <a:pPr marL="0" indent="0">
              <a:buNone/>
            </a:pPr>
            <a:r>
              <a:rPr lang="en-US" sz="2200" b="1" dirty="0">
                <a:solidFill>
                  <a:srgbClr val="1F2430"/>
                </a:solidFill>
                <a:latin typeface="Cambria" pitchFamily="34" charset="0"/>
                <a:ea typeface="Cambria" pitchFamily="34" charset="-122"/>
                <a:cs typeface="Cambria" pitchFamily="34" charset="-120"/>
              </a:rPr>
              <a:t>12 cat  /  10 num</a:t>
            </a:r>
            <a:endParaRPr lang="en-US" sz="2200" dirty="0"/>
          </a:p>
        </p:txBody>
      </p:sp>
      <p:sp>
        <p:nvSpPr>
          <p:cNvPr id="17" name="Text 15"/>
          <p:cNvSpPr/>
          <p:nvPr/>
        </p:nvSpPr>
        <p:spPr>
          <a:xfrm>
            <a:off x="8354568" y="2459736"/>
            <a:ext cx="3057144"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categorical vs. numerical</a:t>
            </a:r>
            <a:endParaRPr lang="en-US" sz="1400" dirty="0"/>
          </a:p>
        </p:txBody>
      </p:sp>
      <p:sp>
        <p:nvSpPr>
          <p:cNvPr id="18" name="Shape 16"/>
          <p:cNvSpPr/>
          <p:nvPr/>
        </p:nvSpPr>
        <p:spPr>
          <a:xfrm>
            <a:off x="548640" y="2889504"/>
            <a:ext cx="11091672" cy="603504"/>
          </a:xfrm>
          <a:prstGeom prst="roundRect">
            <a:avLst>
              <a:gd name="adj" fmla="val 9091"/>
            </a:avLst>
          </a:prstGeom>
          <a:solidFill>
            <a:srgbClr val="FBF1DE"/>
          </a:solidFill>
          <a:ln w="9525">
            <a:solidFill>
              <a:srgbClr val="C98A1B"/>
            </a:solidFill>
            <a:prstDash val="solid"/>
          </a:ln>
        </p:spPr>
        <p:txBody>
          <a:bodyPr/>
          <a:lstStyle/>
          <a:p>
            <a:endParaRPr lang="en-GB"/>
          </a:p>
        </p:txBody>
      </p:sp>
      <p:sp>
        <p:nvSpPr>
          <p:cNvPr id="19" name="Text 17"/>
          <p:cNvSpPr/>
          <p:nvPr/>
        </p:nvSpPr>
        <p:spPr>
          <a:xfrm>
            <a:off x="777240" y="2980944"/>
            <a:ext cx="10652760" cy="219456"/>
          </a:xfrm>
          <a:prstGeom prst="rect">
            <a:avLst/>
          </a:prstGeom>
          <a:noFill/>
          <a:ln/>
        </p:spPr>
        <p:txBody>
          <a:bodyPr wrap="square" lIns="0" tIns="0" rIns="0" bIns="0" rtlCol="0" anchor="ctr"/>
          <a:lstStyle/>
          <a:p>
            <a:pPr marL="0" indent="0">
              <a:buNone/>
            </a:pPr>
            <a:r>
              <a:rPr lang="en-US" sz="1000" b="1" kern="0" spc="100" dirty="0">
                <a:solidFill>
                  <a:srgbClr val="C98A1B"/>
                </a:solidFill>
                <a:latin typeface="Calibri" pitchFamily="34" charset="0"/>
                <a:ea typeface="Calibri" pitchFamily="34" charset="-122"/>
                <a:cs typeface="Calibri" pitchFamily="34" charset="-120"/>
              </a:rPr>
              <a:t>MITIGATION PLAN</a:t>
            </a:r>
            <a:endParaRPr lang="en-US" sz="1000" dirty="0"/>
          </a:p>
        </p:txBody>
      </p:sp>
      <p:sp>
        <p:nvSpPr>
          <p:cNvPr id="20" name="Text 18"/>
          <p:cNvSpPr/>
          <p:nvPr/>
        </p:nvSpPr>
        <p:spPr>
          <a:xfrm>
            <a:off x="777240" y="3182112"/>
            <a:ext cx="10652760" cy="274320"/>
          </a:xfrm>
          <a:prstGeom prst="rect">
            <a:avLst/>
          </a:prstGeom>
          <a:noFill/>
          <a:ln/>
        </p:spPr>
        <p:txBody>
          <a:bodyPr wrap="square" lIns="0" tIns="0" rIns="0" bIns="0" rtlCol="0" anchor="ctr"/>
          <a:lstStyle/>
          <a:p>
            <a:pPr marL="0" indent="0">
              <a:buNone/>
            </a:pPr>
            <a:r>
              <a:rPr lang="en-US" sz="1400" dirty="0">
                <a:solidFill>
                  <a:srgbClr val="3D4457"/>
                </a:solidFill>
                <a:latin typeface="Calibri" pitchFamily="34" charset="0"/>
                <a:ea typeface="Calibri" pitchFamily="34" charset="-122"/>
                <a:cs typeface="Calibri" pitchFamily="34" charset="-120"/>
              </a:rPr>
              <a:t>99.42% legit vs. 0.58% fraud — will address via class weighting, SMOTE resampling, and precision/recall metrics (not accuracy).</a:t>
            </a:r>
            <a:endParaRPr lang="en-US" sz="1400" dirty="0"/>
          </a:p>
        </p:txBody>
      </p:sp>
      <p:sp>
        <p:nvSpPr>
          <p:cNvPr id="21" name="Shape 19"/>
          <p:cNvSpPr/>
          <p:nvPr/>
        </p:nvSpPr>
        <p:spPr>
          <a:xfrm>
            <a:off x="548640" y="3639312"/>
            <a:ext cx="5440680" cy="2624328"/>
          </a:xfrm>
          <a:prstGeom prst="roundRect">
            <a:avLst>
              <a:gd name="adj" fmla="val 2787"/>
            </a:avLst>
          </a:prstGeom>
          <a:solidFill>
            <a:srgbClr val="F7F9FC"/>
          </a:solidFill>
          <a:ln/>
        </p:spPr>
        <p:txBody>
          <a:bodyPr/>
          <a:lstStyle/>
          <a:p>
            <a:endParaRPr lang="en-GB"/>
          </a:p>
        </p:txBody>
      </p:sp>
      <p:sp>
        <p:nvSpPr>
          <p:cNvPr id="22" name="Text 20"/>
          <p:cNvSpPr/>
          <p:nvPr/>
        </p:nvSpPr>
        <p:spPr>
          <a:xfrm>
            <a:off x="777240" y="3867912"/>
            <a:ext cx="4983480" cy="274320"/>
          </a:xfrm>
          <a:prstGeom prst="rect">
            <a:avLst/>
          </a:prstGeom>
          <a:noFill/>
          <a:ln/>
        </p:spPr>
        <p:txBody>
          <a:bodyPr wrap="square" lIns="0" tIns="0" rIns="0" bIns="0" rtlCol="0" anchor="ctr"/>
          <a:lstStyle/>
          <a:p>
            <a:pPr marL="0" indent="0">
              <a:buNone/>
            </a:pPr>
            <a:r>
              <a:rPr lang="en-US" sz="1200" b="1" kern="0" spc="100" dirty="0">
                <a:solidFill>
                  <a:srgbClr val="C98A1B"/>
                </a:solidFill>
                <a:latin typeface="Calibri" pitchFamily="34" charset="0"/>
                <a:ea typeface="Calibri" pitchFamily="34" charset="-122"/>
                <a:cs typeface="Calibri" pitchFamily="34" charset="-120"/>
              </a:rPr>
              <a:t>STRONGEST CORRELATIONS WITH TARGET</a:t>
            </a:r>
            <a:endParaRPr lang="en-US" sz="1200" dirty="0"/>
          </a:p>
        </p:txBody>
      </p:sp>
      <p:sp>
        <p:nvSpPr>
          <p:cNvPr id="23" name="Text 21"/>
          <p:cNvSpPr/>
          <p:nvPr/>
        </p:nvSpPr>
        <p:spPr>
          <a:xfrm>
            <a:off x="777240" y="4297680"/>
            <a:ext cx="2377440" cy="365760"/>
          </a:xfrm>
          <a:prstGeom prst="rect">
            <a:avLst/>
          </a:prstGeom>
          <a:noFill/>
          <a:ln/>
        </p:spPr>
        <p:txBody>
          <a:bodyPr wrap="square" lIns="0" tIns="0" rIns="0" bIns="0" rtlCol="0" anchor="ctr"/>
          <a:lstStyle/>
          <a:p>
            <a:pPr marL="0" indent="0">
              <a:buNone/>
            </a:pPr>
            <a:r>
              <a:rPr lang="en-US" sz="1250" b="1" dirty="0">
                <a:solidFill>
                  <a:srgbClr val="232838"/>
                </a:solidFill>
                <a:latin typeface="Calibri" pitchFamily="34" charset="0"/>
                <a:ea typeface="Calibri" pitchFamily="34" charset="-122"/>
                <a:cs typeface="Calibri" pitchFamily="34" charset="-120"/>
              </a:rPr>
              <a:t>amt</a:t>
            </a:r>
            <a:endParaRPr lang="en-US" sz="1250" dirty="0"/>
          </a:p>
        </p:txBody>
      </p:sp>
      <p:sp>
        <p:nvSpPr>
          <p:cNvPr id="24" name="Shape 22"/>
          <p:cNvSpPr/>
          <p:nvPr/>
        </p:nvSpPr>
        <p:spPr>
          <a:xfrm>
            <a:off x="3246120" y="4379976"/>
            <a:ext cx="2011680" cy="182880"/>
          </a:xfrm>
          <a:prstGeom prst="roundRect">
            <a:avLst>
              <a:gd name="adj" fmla="val 20000"/>
            </a:avLst>
          </a:prstGeom>
          <a:solidFill>
            <a:srgbClr val="E4E8F2"/>
          </a:solidFill>
          <a:ln/>
        </p:spPr>
        <p:txBody>
          <a:bodyPr/>
          <a:lstStyle/>
          <a:p>
            <a:endParaRPr lang="en-GB"/>
          </a:p>
        </p:txBody>
      </p:sp>
      <p:sp>
        <p:nvSpPr>
          <p:cNvPr id="25" name="Shape 23"/>
          <p:cNvSpPr/>
          <p:nvPr/>
        </p:nvSpPr>
        <p:spPr>
          <a:xfrm>
            <a:off x="3246120" y="4379976"/>
            <a:ext cx="442570" cy="182880"/>
          </a:xfrm>
          <a:prstGeom prst="roundRect">
            <a:avLst>
              <a:gd name="adj" fmla="val 20000"/>
            </a:avLst>
          </a:prstGeom>
          <a:solidFill>
            <a:srgbClr val="C98A1B"/>
          </a:solidFill>
          <a:ln/>
        </p:spPr>
        <p:txBody>
          <a:bodyPr/>
          <a:lstStyle/>
          <a:p>
            <a:endParaRPr lang="en-GB"/>
          </a:p>
        </p:txBody>
      </p:sp>
      <p:sp>
        <p:nvSpPr>
          <p:cNvPr id="26" name="Text 24"/>
          <p:cNvSpPr/>
          <p:nvPr/>
        </p:nvSpPr>
        <p:spPr>
          <a:xfrm>
            <a:off x="5330952" y="4297680"/>
            <a:ext cx="457200" cy="3657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0.22</a:t>
            </a:r>
            <a:endParaRPr lang="en-US" sz="1150" dirty="0"/>
          </a:p>
        </p:txBody>
      </p:sp>
      <p:sp>
        <p:nvSpPr>
          <p:cNvPr id="27" name="Text 25"/>
          <p:cNvSpPr/>
          <p:nvPr/>
        </p:nvSpPr>
        <p:spPr>
          <a:xfrm>
            <a:off x="777240" y="4773168"/>
            <a:ext cx="2377440" cy="365760"/>
          </a:xfrm>
          <a:prstGeom prst="rect">
            <a:avLst/>
          </a:prstGeom>
          <a:noFill/>
          <a:ln/>
        </p:spPr>
        <p:txBody>
          <a:bodyPr wrap="square" lIns="0" tIns="0" rIns="0" bIns="0" rtlCol="0" anchor="ctr"/>
          <a:lstStyle/>
          <a:p>
            <a:pPr marL="0" indent="0">
              <a:buNone/>
            </a:pPr>
            <a:r>
              <a:rPr lang="en-US" sz="1250" b="1" dirty="0">
                <a:solidFill>
                  <a:srgbClr val="232838"/>
                </a:solidFill>
                <a:latin typeface="Calibri" pitchFamily="34" charset="0"/>
                <a:ea typeface="Calibri" pitchFamily="34" charset="-122"/>
                <a:cs typeface="Calibri" pitchFamily="34" charset="-120"/>
              </a:rPr>
              <a:t>city_pop</a:t>
            </a:r>
            <a:endParaRPr lang="en-US" sz="1250" dirty="0"/>
          </a:p>
        </p:txBody>
      </p:sp>
      <p:sp>
        <p:nvSpPr>
          <p:cNvPr id="28" name="Shape 26"/>
          <p:cNvSpPr/>
          <p:nvPr/>
        </p:nvSpPr>
        <p:spPr>
          <a:xfrm>
            <a:off x="3246120" y="4855464"/>
            <a:ext cx="2011680" cy="182880"/>
          </a:xfrm>
          <a:prstGeom prst="roundRect">
            <a:avLst>
              <a:gd name="adj" fmla="val 20000"/>
            </a:avLst>
          </a:prstGeom>
          <a:solidFill>
            <a:srgbClr val="E4E8F2"/>
          </a:solidFill>
          <a:ln/>
        </p:spPr>
        <p:txBody>
          <a:bodyPr/>
          <a:lstStyle/>
          <a:p>
            <a:endParaRPr lang="en-GB"/>
          </a:p>
        </p:txBody>
      </p:sp>
      <p:sp>
        <p:nvSpPr>
          <p:cNvPr id="29" name="Shape 27"/>
          <p:cNvSpPr/>
          <p:nvPr/>
        </p:nvSpPr>
        <p:spPr>
          <a:xfrm>
            <a:off x="3246120" y="4855464"/>
            <a:ext cx="109728" cy="182880"/>
          </a:xfrm>
          <a:prstGeom prst="roundRect">
            <a:avLst>
              <a:gd name="adj" fmla="val 33333"/>
            </a:avLst>
          </a:prstGeom>
          <a:solidFill>
            <a:srgbClr val="C98A1B"/>
          </a:solidFill>
          <a:ln/>
        </p:spPr>
        <p:txBody>
          <a:bodyPr/>
          <a:lstStyle/>
          <a:p>
            <a:endParaRPr lang="en-GB"/>
          </a:p>
        </p:txBody>
      </p:sp>
      <p:sp>
        <p:nvSpPr>
          <p:cNvPr id="30" name="Text 28"/>
          <p:cNvSpPr/>
          <p:nvPr/>
        </p:nvSpPr>
        <p:spPr>
          <a:xfrm>
            <a:off x="5330952" y="4773168"/>
            <a:ext cx="457200" cy="3657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0.03</a:t>
            </a:r>
            <a:endParaRPr lang="en-US" sz="1150" dirty="0"/>
          </a:p>
        </p:txBody>
      </p:sp>
      <p:sp>
        <p:nvSpPr>
          <p:cNvPr id="31" name="Text 29"/>
          <p:cNvSpPr/>
          <p:nvPr/>
        </p:nvSpPr>
        <p:spPr>
          <a:xfrm>
            <a:off x="777240" y="5248656"/>
            <a:ext cx="2377440" cy="365760"/>
          </a:xfrm>
          <a:prstGeom prst="rect">
            <a:avLst/>
          </a:prstGeom>
          <a:noFill/>
          <a:ln/>
        </p:spPr>
        <p:txBody>
          <a:bodyPr wrap="square" lIns="0" tIns="0" rIns="0" bIns="0" rtlCol="0" anchor="ctr"/>
          <a:lstStyle/>
          <a:p>
            <a:pPr marL="0" indent="0">
              <a:buNone/>
            </a:pPr>
            <a:r>
              <a:rPr lang="en-US" sz="1250" b="1" dirty="0">
                <a:solidFill>
                  <a:srgbClr val="232838"/>
                </a:solidFill>
                <a:latin typeface="Calibri" pitchFamily="34" charset="0"/>
                <a:ea typeface="Calibri" pitchFamily="34" charset="-122"/>
                <a:cs typeface="Calibri" pitchFamily="34" charset="-120"/>
              </a:rPr>
              <a:t>unix_time</a:t>
            </a:r>
            <a:endParaRPr lang="en-US" sz="1250" dirty="0"/>
          </a:p>
        </p:txBody>
      </p:sp>
      <p:sp>
        <p:nvSpPr>
          <p:cNvPr id="32" name="Shape 30"/>
          <p:cNvSpPr/>
          <p:nvPr/>
        </p:nvSpPr>
        <p:spPr>
          <a:xfrm>
            <a:off x="3246120" y="5330952"/>
            <a:ext cx="2011680" cy="182880"/>
          </a:xfrm>
          <a:prstGeom prst="roundRect">
            <a:avLst>
              <a:gd name="adj" fmla="val 20000"/>
            </a:avLst>
          </a:prstGeom>
          <a:solidFill>
            <a:srgbClr val="E4E8F2"/>
          </a:solidFill>
          <a:ln/>
        </p:spPr>
        <p:txBody>
          <a:bodyPr/>
          <a:lstStyle/>
          <a:p>
            <a:endParaRPr lang="en-GB"/>
          </a:p>
        </p:txBody>
      </p:sp>
      <p:sp>
        <p:nvSpPr>
          <p:cNvPr id="33" name="Shape 31"/>
          <p:cNvSpPr/>
          <p:nvPr/>
        </p:nvSpPr>
        <p:spPr>
          <a:xfrm>
            <a:off x="3246120" y="5330952"/>
            <a:ext cx="109728" cy="182880"/>
          </a:xfrm>
          <a:prstGeom prst="roundRect">
            <a:avLst>
              <a:gd name="adj" fmla="val 33333"/>
            </a:avLst>
          </a:prstGeom>
          <a:solidFill>
            <a:srgbClr val="C98A1B"/>
          </a:solidFill>
          <a:ln/>
        </p:spPr>
        <p:txBody>
          <a:bodyPr/>
          <a:lstStyle/>
          <a:p>
            <a:endParaRPr lang="en-GB"/>
          </a:p>
        </p:txBody>
      </p:sp>
      <p:sp>
        <p:nvSpPr>
          <p:cNvPr id="34" name="Text 32"/>
          <p:cNvSpPr/>
          <p:nvPr/>
        </p:nvSpPr>
        <p:spPr>
          <a:xfrm>
            <a:off x="5330952" y="5248656"/>
            <a:ext cx="457200" cy="3657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0.02</a:t>
            </a:r>
            <a:endParaRPr lang="en-US" sz="1150" dirty="0"/>
          </a:p>
        </p:txBody>
      </p:sp>
      <p:sp>
        <p:nvSpPr>
          <p:cNvPr id="35" name="Shape 33"/>
          <p:cNvSpPr/>
          <p:nvPr/>
        </p:nvSpPr>
        <p:spPr>
          <a:xfrm>
            <a:off x="6263640" y="3639312"/>
            <a:ext cx="5440680" cy="2624328"/>
          </a:xfrm>
          <a:prstGeom prst="roundRect">
            <a:avLst>
              <a:gd name="adj" fmla="val 2787"/>
            </a:avLst>
          </a:prstGeom>
          <a:solidFill>
            <a:srgbClr val="FBF1DE"/>
          </a:solidFill>
          <a:ln/>
        </p:spPr>
        <p:txBody>
          <a:bodyPr/>
          <a:lstStyle/>
          <a:p>
            <a:endParaRPr lang="en-GB"/>
          </a:p>
        </p:txBody>
      </p:sp>
      <p:sp>
        <p:nvSpPr>
          <p:cNvPr id="36" name="Text 34"/>
          <p:cNvSpPr/>
          <p:nvPr/>
        </p:nvSpPr>
        <p:spPr>
          <a:xfrm>
            <a:off x="6492240" y="3867912"/>
            <a:ext cx="4983480" cy="274320"/>
          </a:xfrm>
          <a:prstGeom prst="rect">
            <a:avLst/>
          </a:prstGeom>
          <a:noFill/>
          <a:ln/>
        </p:spPr>
        <p:txBody>
          <a:bodyPr wrap="square" lIns="0" tIns="0" rIns="0" bIns="0" rtlCol="0" anchor="ctr"/>
          <a:lstStyle/>
          <a:p>
            <a:pPr marL="0" indent="0">
              <a:buNone/>
            </a:pPr>
            <a:r>
              <a:rPr lang="en-US" sz="1200" b="1" kern="0" spc="100" dirty="0">
                <a:solidFill>
                  <a:srgbClr val="C98A1B"/>
                </a:solidFill>
                <a:latin typeface="Calibri" pitchFamily="34" charset="0"/>
                <a:ea typeface="Calibri" pitchFamily="34" charset="-122"/>
                <a:cs typeface="Calibri" pitchFamily="34" charset="-120"/>
              </a:rPr>
              <a:t>OUTLIERS</a:t>
            </a:r>
            <a:endParaRPr lang="en-US" sz="1200" dirty="0"/>
          </a:p>
        </p:txBody>
      </p:sp>
      <p:sp>
        <p:nvSpPr>
          <p:cNvPr id="37" name="Text 35"/>
          <p:cNvSpPr/>
          <p:nvPr/>
        </p:nvSpPr>
        <p:spPr>
          <a:xfrm>
            <a:off x="6492240" y="4206240"/>
            <a:ext cx="4983480" cy="640080"/>
          </a:xfrm>
          <a:prstGeom prst="rect">
            <a:avLst/>
          </a:prstGeom>
          <a:noFill/>
          <a:ln/>
        </p:spPr>
        <p:txBody>
          <a:bodyPr wrap="square" lIns="0" tIns="0" rIns="0" bIns="0" rtlCol="0" anchor="ctr"/>
          <a:lstStyle/>
          <a:p>
            <a:pPr marL="0" indent="0">
              <a:lnSpc>
                <a:spcPct val="115000"/>
              </a:lnSpc>
              <a:buNone/>
            </a:pPr>
            <a:r>
              <a:rPr lang="en-US" sz="1450" b="1" dirty="0">
                <a:solidFill>
                  <a:srgbClr val="1F2430"/>
                </a:solidFill>
                <a:latin typeface="Cambria" pitchFamily="34" charset="0"/>
                <a:ea typeface="Cambria" pitchFamily="34" charset="-122"/>
                <a:cs typeface="Cambria" pitchFamily="34" charset="-120"/>
              </a:rPr>
              <a:t>amt &amp; city_pop show extreme values</a:t>
            </a:r>
            <a:endParaRPr lang="en-US" sz="1450" dirty="0"/>
          </a:p>
        </p:txBody>
      </p:sp>
      <p:sp>
        <p:nvSpPr>
          <p:cNvPr id="38" name="Text 36"/>
          <p:cNvSpPr/>
          <p:nvPr/>
        </p:nvSpPr>
        <p:spPr>
          <a:xfrm>
            <a:off x="6492240" y="4622292"/>
            <a:ext cx="4983480" cy="1115568"/>
          </a:xfrm>
          <a:prstGeom prst="rect">
            <a:avLst/>
          </a:prstGeom>
          <a:noFill/>
          <a:ln/>
        </p:spPr>
        <p:txBody>
          <a:bodyPr wrap="square" lIns="0" tIns="0" rIns="0" bIns="0" rtlCol="0" anchor="ctr"/>
          <a:lstStyle/>
          <a:p>
            <a:pPr marL="0" indent="0">
              <a:lnSpc>
                <a:spcPct val="125000"/>
              </a:lnSpc>
              <a:buNone/>
            </a:pPr>
            <a:r>
              <a:rPr lang="en-US" sz="1400" dirty="0">
                <a:solidFill>
                  <a:srgbClr val="3D4457"/>
                </a:solidFill>
                <a:latin typeface="Calibri" pitchFamily="34" charset="0"/>
                <a:ea typeface="Calibri" pitchFamily="34" charset="-122"/>
                <a:cs typeface="Calibri" pitchFamily="34" charset="-120"/>
              </a:rPr>
              <a:t>Geographic fields (lat/long, merch_lat/merch_long) also show outliers. High amounts and dense cities occur naturally, so values will be kept and reviewed rather than dropped outright.</a:t>
            </a:r>
            <a:endParaRPr lang="en-US" sz="1400" dirty="0"/>
          </a:p>
        </p:txBody>
      </p:sp>
      <p:sp>
        <p:nvSpPr>
          <p:cNvPr id="39" name="Text 37"/>
          <p:cNvSpPr/>
          <p:nvPr/>
        </p:nvSpPr>
        <p:spPr>
          <a:xfrm>
            <a:off x="457200" y="6519672"/>
            <a:ext cx="73152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Capstone Part 1 · Lightning Talk</a:t>
            </a:r>
            <a:endParaRPr lang="en-US" sz="1000" dirty="0"/>
          </a:p>
        </p:txBody>
      </p:sp>
      <p:sp>
        <p:nvSpPr>
          <p:cNvPr id="40" name="Text 38"/>
          <p:cNvSpPr/>
          <p:nvPr/>
        </p:nvSpPr>
        <p:spPr>
          <a:xfrm>
            <a:off x="11365992" y="6519672"/>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B3395A"/>
          </a:solidFill>
          <a:ln/>
        </p:spPr>
        <p:txBody>
          <a:bodyPr/>
          <a:lstStyle/>
          <a:p>
            <a:endParaRPr lang="en-GB"/>
          </a:p>
        </p:txBody>
      </p:sp>
      <p:sp>
        <p:nvSpPr>
          <p:cNvPr id="3" name="Text 1"/>
          <p:cNvSpPr/>
          <p:nvPr/>
        </p:nvSpPr>
        <p:spPr>
          <a:xfrm>
            <a:off x="457200" y="411480"/>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4" name="Text 2"/>
          <p:cNvSpPr/>
          <p:nvPr/>
        </p:nvSpPr>
        <p:spPr>
          <a:xfrm>
            <a:off x="1170432" y="402336"/>
            <a:ext cx="7315200" cy="274320"/>
          </a:xfrm>
          <a:prstGeom prst="rect">
            <a:avLst/>
          </a:prstGeom>
          <a:noFill/>
          <a:ln/>
        </p:spPr>
        <p:txBody>
          <a:bodyPr wrap="square" lIns="0" tIns="0" rIns="0" bIns="0" rtlCol="0" anchor="ctr"/>
          <a:lstStyle/>
          <a:p>
            <a:pPr marL="0" indent="0">
              <a:buNone/>
            </a:pPr>
            <a:r>
              <a:rPr lang="en-US" sz="1250" b="1" kern="0" spc="150" dirty="0">
                <a:solidFill>
                  <a:srgbClr val="B3395A"/>
                </a:solidFill>
                <a:latin typeface="Calibri" pitchFamily="34" charset="0"/>
                <a:ea typeface="Calibri" pitchFamily="34" charset="-122"/>
                <a:cs typeface="Calibri" pitchFamily="34" charset="-120"/>
              </a:rPr>
              <a:t>TOPIC 02</a:t>
            </a:r>
            <a:endParaRPr lang="en-US" sz="1250" dirty="0"/>
          </a:p>
        </p:txBody>
      </p:sp>
      <p:sp>
        <p:nvSpPr>
          <p:cNvPr id="5" name="Text 3"/>
          <p:cNvSpPr/>
          <p:nvPr/>
        </p:nvSpPr>
        <p:spPr>
          <a:xfrm>
            <a:off x="1170432" y="640080"/>
            <a:ext cx="9875520" cy="502920"/>
          </a:xfrm>
          <a:prstGeom prst="rect">
            <a:avLst/>
          </a:prstGeom>
          <a:noFill/>
          <a:ln/>
        </p:spPr>
        <p:txBody>
          <a:bodyPr wrap="square" lIns="0" tIns="0" rIns="0" bIns="0" rtlCol="0" anchor="ctr"/>
          <a:lstStyle/>
          <a:p>
            <a:pPr marL="0" indent="0">
              <a:buNone/>
            </a:pPr>
            <a:r>
              <a:rPr lang="en-US" sz="2600" b="1" dirty="0">
                <a:solidFill>
                  <a:srgbClr val="1F2430"/>
                </a:solidFill>
                <a:latin typeface="Cambria" pitchFamily="34" charset="0"/>
                <a:ea typeface="Cambria" pitchFamily="34" charset="-122"/>
                <a:cs typeface="Cambria" pitchFamily="34" charset="-120"/>
              </a:rPr>
              <a:t>Cardiovascular Disease Prediction</a:t>
            </a:r>
            <a:endParaRPr lang="en-US" sz="2600" dirty="0"/>
          </a:p>
        </p:txBody>
      </p:sp>
      <p:sp>
        <p:nvSpPr>
          <p:cNvPr id="6" name="Text 4"/>
          <p:cNvSpPr/>
          <p:nvPr/>
        </p:nvSpPr>
        <p:spPr>
          <a:xfrm>
            <a:off x="548640" y="1417320"/>
            <a:ext cx="6492240" cy="274320"/>
          </a:xfrm>
          <a:prstGeom prst="rect">
            <a:avLst/>
          </a:prstGeom>
          <a:noFill/>
          <a:ln/>
        </p:spPr>
        <p:txBody>
          <a:bodyPr wrap="square" lIns="0" tIns="0" rIns="0" bIns="0" rtlCol="0" anchor="ctr"/>
          <a:lstStyle/>
          <a:p>
            <a:pPr marL="0" indent="0">
              <a:buNone/>
            </a:pPr>
            <a:r>
              <a:rPr lang="en-US" sz="1400" b="1" kern="0" spc="120" dirty="0">
                <a:solidFill>
                  <a:srgbClr val="B3395A"/>
                </a:solidFill>
                <a:latin typeface="Calibri" pitchFamily="34" charset="0"/>
                <a:ea typeface="Calibri" pitchFamily="34" charset="-122"/>
                <a:cs typeface="Calibri" pitchFamily="34" charset="-120"/>
              </a:rPr>
              <a:t>PROBLEM STATEMENT</a:t>
            </a:r>
            <a:endParaRPr lang="en-US" sz="1400" dirty="0"/>
          </a:p>
        </p:txBody>
      </p:sp>
      <p:sp>
        <p:nvSpPr>
          <p:cNvPr id="7" name="Shape 5"/>
          <p:cNvSpPr/>
          <p:nvPr/>
        </p:nvSpPr>
        <p:spPr>
          <a:xfrm>
            <a:off x="548640" y="1709928"/>
            <a:ext cx="6492240" cy="1417320"/>
          </a:xfrm>
          <a:prstGeom prst="roundRect">
            <a:avLst>
              <a:gd name="adj" fmla="val 3871"/>
            </a:avLst>
          </a:prstGeom>
          <a:solidFill>
            <a:srgbClr val="F7F9FC"/>
          </a:solidFill>
          <a:ln/>
        </p:spPr>
        <p:txBody>
          <a:bodyPr/>
          <a:lstStyle/>
          <a:p>
            <a:endParaRPr lang="en-GB"/>
          </a:p>
        </p:txBody>
      </p:sp>
      <p:sp>
        <p:nvSpPr>
          <p:cNvPr id="8" name="Text 6"/>
          <p:cNvSpPr/>
          <p:nvPr/>
        </p:nvSpPr>
        <p:spPr>
          <a:xfrm>
            <a:off x="777240" y="1709928"/>
            <a:ext cx="6035040" cy="1417320"/>
          </a:xfrm>
          <a:prstGeom prst="rect">
            <a:avLst/>
          </a:prstGeom>
          <a:noFill/>
          <a:ln/>
        </p:spPr>
        <p:txBody>
          <a:bodyPr wrap="square" lIns="0" tIns="0" rIns="0" bIns="0" rtlCol="0" anchor="ctr"/>
          <a:lstStyle/>
          <a:p>
            <a:pPr marL="0" indent="0">
              <a:lnSpc>
                <a:spcPct val="120000"/>
              </a:lnSpc>
              <a:buNone/>
            </a:pPr>
            <a:r>
              <a:rPr lang="en-US" sz="1600" dirty="0">
                <a:solidFill>
                  <a:srgbClr val="313A4D"/>
                </a:solidFill>
                <a:latin typeface="Calibri" pitchFamily="34" charset="0"/>
                <a:ea typeface="Calibri" pitchFamily="34" charset="-122"/>
                <a:cs typeface="Calibri" pitchFamily="34" charset="-120"/>
              </a:rPr>
              <a:t>Cardiovascular disease is one of the leading causes of death worldwide. Early prediction can help healthcare professionals identify high-risk patients and provide timely treatment — this project analyzes patient medical data to predict presence of disease.</a:t>
            </a:r>
            <a:endParaRPr lang="en-US" sz="1600" dirty="0"/>
          </a:p>
        </p:txBody>
      </p:sp>
      <p:sp>
        <p:nvSpPr>
          <p:cNvPr id="9" name="Text 7"/>
          <p:cNvSpPr/>
          <p:nvPr/>
        </p:nvSpPr>
        <p:spPr>
          <a:xfrm>
            <a:off x="548640" y="3337560"/>
            <a:ext cx="6492240" cy="274320"/>
          </a:xfrm>
          <a:prstGeom prst="rect">
            <a:avLst/>
          </a:prstGeom>
          <a:noFill/>
          <a:ln/>
        </p:spPr>
        <p:txBody>
          <a:bodyPr wrap="square" lIns="0" tIns="0" rIns="0" bIns="0" rtlCol="0" anchor="ctr"/>
          <a:lstStyle/>
          <a:p>
            <a:pPr marL="0" indent="0">
              <a:buNone/>
            </a:pPr>
            <a:r>
              <a:rPr lang="en-US" sz="1400" b="1" kern="0" spc="120" dirty="0">
                <a:solidFill>
                  <a:srgbClr val="B3395A"/>
                </a:solidFill>
                <a:latin typeface="Calibri" pitchFamily="34" charset="0"/>
                <a:ea typeface="Calibri" pitchFamily="34" charset="-122"/>
                <a:cs typeface="Calibri" pitchFamily="34" charset="-120"/>
              </a:rPr>
              <a:t>GOALS</a:t>
            </a:r>
            <a:endParaRPr lang="en-US" sz="1400" dirty="0"/>
          </a:p>
        </p:txBody>
      </p:sp>
      <p:sp>
        <p:nvSpPr>
          <p:cNvPr id="10" name="Text 8"/>
          <p:cNvSpPr/>
          <p:nvPr/>
        </p:nvSpPr>
        <p:spPr>
          <a:xfrm>
            <a:off x="548640" y="3630168"/>
            <a:ext cx="6492240" cy="2651760"/>
          </a:xfrm>
          <a:prstGeom prst="rect">
            <a:avLst/>
          </a:prstGeom>
          <a:noFill/>
          <a:ln/>
        </p:spPr>
        <p:txBody>
          <a:bodyPr wrap="square" lIns="0" tIns="0" rIns="0" bIns="0" rtlCol="0" anchor="ctr"/>
          <a:lstStyle/>
          <a:p>
            <a:pPr marL="342900" indent="-342900">
              <a:spcAft>
                <a:spcPts val="800"/>
              </a:spcAft>
              <a:buSzPct val="100000"/>
              <a:buChar char="✦"/>
            </a:pPr>
            <a:r>
              <a:rPr lang="en-US" dirty="0">
                <a:solidFill>
                  <a:srgbClr val="232838"/>
                </a:solidFill>
                <a:latin typeface="Calibri" pitchFamily="34" charset="0"/>
                <a:ea typeface="Calibri" pitchFamily="34" charset="-122"/>
                <a:cs typeface="Calibri" pitchFamily="34" charset="-120"/>
              </a:rPr>
              <a:t>Explore patient health records and risk factors</a:t>
            </a:r>
            <a:endParaRPr lang="en-US" dirty="0"/>
          </a:p>
          <a:p>
            <a:pPr marL="342900" indent="-342900">
              <a:spcAft>
                <a:spcPts val="800"/>
              </a:spcAft>
              <a:buSzPct val="100000"/>
              <a:buChar char="✦"/>
            </a:pPr>
            <a:r>
              <a:rPr lang="en-US" dirty="0">
                <a:solidFill>
                  <a:srgbClr val="232838"/>
                </a:solidFill>
                <a:latin typeface="Calibri" pitchFamily="34" charset="0"/>
                <a:ea typeface="Calibri" pitchFamily="34" charset="-122"/>
                <a:cs typeface="Calibri" pitchFamily="34" charset="-120"/>
              </a:rPr>
              <a:t>Perform exploratory data analysis (EDA)</a:t>
            </a:r>
            <a:endParaRPr lang="en-US" dirty="0"/>
          </a:p>
          <a:p>
            <a:pPr marL="342900" indent="-342900">
              <a:spcAft>
                <a:spcPts val="800"/>
              </a:spcAft>
              <a:buSzPct val="100000"/>
              <a:buChar char="✦"/>
            </a:pPr>
            <a:r>
              <a:rPr lang="en-US" dirty="0">
                <a:solidFill>
                  <a:srgbClr val="232838"/>
                </a:solidFill>
                <a:latin typeface="Calibri" pitchFamily="34" charset="0"/>
                <a:ea typeface="Calibri" pitchFamily="34" charset="-122"/>
                <a:cs typeface="Calibri" pitchFamily="34" charset="-120"/>
              </a:rPr>
              <a:t>Build classification models to predict disease presence</a:t>
            </a:r>
            <a:endParaRPr lang="en-US" dirty="0"/>
          </a:p>
          <a:p>
            <a:pPr marL="342900" indent="-342900">
              <a:spcAft>
                <a:spcPts val="800"/>
              </a:spcAft>
              <a:buSzPct val="100000"/>
              <a:buChar char="✦"/>
            </a:pPr>
            <a:r>
              <a:rPr lang="en-US" dirty="0">
                <a:solidFill>
                  <a:srgbClr val="232838"/>
                </a:solidFill>
                <a:latin typeface="Calibri" pitchFamily="34" charset="0"/>
                <a:ea typeface="Calibri" pitchFamily="34" charset="-122"/>
                <a:cs typeface="Calibri" pitchFamily="34" charset="-120"/>
              </a:rPr>
              <a:t>Evaluate and select the strongest predictive model</a:t>
            </a:r>
            <a:endParaRPr lang="en-US" dirty="0"/>
          </a:p>
        </p:txBody>
      </p:sp>
      <p:sp>
        <p:nvSpPr>
          <p:cNvPr id="11" name="Shape 9"/>
          <p:cNvSpPr/>
          <p:nvPr/>
        </p:nvSpPr>
        <p:spPr>
          <a:xfrm>
            <a:off x="7360920" y="1417320"/>
            <a:ext cx="4279392" cy="4892040"/>
          </a:xfrm>
          <a:prstGeom prst="roundRect">
            <a:avLst>
              <a:gd name="adj" fmla="val 1709"/>
            </a:avLst>
          </a:prstGeom>
          <a:solidFill>
            <a:srgbClr val="FBEAF0"/>
          </a:solidFill>
          <a:ln/>
          <a:effectLst>
            <a:outerShdw blurRad="101600" dist="38100" dir="5400000" algn="bl" rotWithShape="0">
              <a:srgbClr val="9AA5C4">
                <a:alpha val="22000"/>
              </a:srgbClr>
            </a:outerShdw>
          </a:effectLst>
        </p:spPr>
        <p:txBody>
          <a:bodyPr/>
          <a:lstStyle/>
          <a:p>
            <a:endParaRPr lang="en-GB" sz="1200"/>
          </a:p>
        </p:txBody>
      </p:sp>
      <p:sp>
        <p:nvSpPr>
          <p:cNvPr id="12" name="Text 10"/>
          <p:cNvSpPr/>
          <p:nvPr/>
        </p:nvSpPr>
        <p:spPr>
          <a:xfrm>
            <a:off x="7680960" y="1691640"/>
            <a:ext cx="3639312" cy="274320"/>
          </a:xfrm>
          <a:prstGeom prst="rect">
            <a:avLst/>
          </a:prstGeom>
          <a:noFill/>
          <a:ln/>
        </p:spPr>
        <p:txBody>
          <a:bodyPr wrap="square" lIns="0" tIns="0" rIns="0" bIns="0" rtlCol="0" anchor="ctr"/>
          <a:lstStyle/>
          <a:p>
            <a:pPr marL="0" indent="0">
              <a:buNone/>
            </a:pPr>
            <a:r>
              <a:rPr lang="en-US" sz="1400" b="1" kern="0" spc="120" dirty="0">
                <a:solidFill>
                  <a:srgbClr val="B3395A"/>
                </a:solidFill>
                <a:latin typeface="Calibri" pitchFamily="34" charset="0"/>
                <a:ea typeface="Calibri" pitchFamily="34" charset="-122"/>
                <a:cs typeface="Calibri" pitchFamily="34" charset="-120"/>
              </a:rPr>
              <a:t>DATA SNAPSHOT</a:t>
            </a:r>
            <a:endParaRPr lang="en-US" sz="1400" dirty="0"/>
          </a:p>
        </p:txBody>
      </p:sp>
      <p:sp>
        <p:nvSpPr>
          <p:cNvPr id="13" name="Text 11"/>
          <p:cNvSpPr/>
          <p:nvPr/>
        </p:nvSpPr>
        <p:spPr>
          <a:xfrm>
            <a:off x="7680960" y="2194560"/>
            <a:ext cx="3639312" cy="237744"/>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SOURCE</a:t>
            </a:r>
            <a:endParaRPr lang="en-US" sz="1200" dirty="0"/>
          </a:p>
        </p:txBody>
      </p:sp>
      <p:sp>
        <p:nvSpPr>
          <p:cNvPr id="14" name="Text 12"/>
          <p:cNvSpPr/>
          <p:nvPr/>
        </p:nvSpPr>
        <p:spPr>
          <a:xfrm>
            <a:off x="7680960" y="2414016"/>
            <a:ext cx="3639312" cy="411480"/>
          </a:xfrm>
          <a:prstGeom prst="rect">
            <a:avLst/>
          </a:prstGeom>
          <a:noFill/>
          <a:ln/>
        </p:spPr>
        <p:txBody>
          <a:bodyPr wrap="square" lIns="0" tIns="0" rIns="0" bIns="0" rtlCol="0" anchor="ctr"/>
          <a:lstStyle/>
          <a:p>
            <a:pPr marL="0" indent="0">
              <a:buNone/>
            </a:pPr>
            <a:r>
              <a:rPr lang="en-US" sz="1450" b="1" dirty="0">
                <a:solidFill>
                  <a:srgbClr val="1F2430"/>
                </a:solidFill>
                <a:latin typeface="Cambria" pitchFamily="34" charset="0"/>
                <a:ea typeface="Cambria" pitchFamily="34" charset="-122"/>
                <a:cs typeface="Cambria" pitchFamily="34" charset="-120"/>
              </a:rPr>
              <a:t>Kaggle — Cardiovascular Disease Dataset</a:t>
            </a:r>
            <a:endParaRPr lang="en-US" sz="1450" dirty="0"/>
          </a:p>
        </p:txBody>
      </p:sp>
      <p:sp>
        <p:nvSpPr>
          <p:cNvPr id="15" name="Shape 13"/>
          <p:cNvSpPr/>
          <p:nvPr/>
        </p:nvSpPr>
        <p:spPr>
          <a:xfrm>
            <a:off x="7680960" y="2688336"/>
            <a:ext cx="3639312" cy="0"/>
          </a:xfrm>
          <a:prstGeom prst="line">
            <a:avLst/>
          </a:prstGeom>
          <a:noFill/>
          <a:ln w="6350">
            <a:solidFill>
              <a:srgbClr val="B3395A">
                <a:alpha val="30000"/>
              </a:srgbClr>
            </a:solidFill>
            <a:prstDash val="solid"/>
          </a:ln>
        </p:spPr>
        <p:txBody>
          <a:bodyPr/>
          <a:lstStyle/>
          <a:p>
            <a:endParaRPr lang="en-GB"/>
          </a:p>
        </p:txBody>
      </p:sp>
      <p:sp>
        <p:nvSpPr>
          <p:cNvPr id="16" name="Text 14"/>
          <p:cNvSpPr/>
          <p:nvPr/>
        </p:nvSpPr>
        <p:spPr>
          <a:xfrm>
            <a:off x="7680960" y="2816352"/>
            <a:ext cx="3639312" cy="237744"/>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ROWS</a:t>
            </a:r>
            <a:endParaRPr lang="en-US" sz="1050" dirty="0"/>
          </a:p>
        </p:txBody>
      </p:sp>
      <p:sp>
        <p:nvSpPr>
          <p:cNvPr id="17" name="Text 15"/>
          <p:cNvSpPr/>
          <p:nvPr/>
        </p:nvSpPr>
        <p:spPr>
          <a:xfrm>
            <a:off x="7680960" y="3035808"/>
            <a:ext cx="3639312" cy="411480"/>
          </a:xfrm>
          <a:prstGeom prst="rect">
            <a:avLst/>
          </a:prstGeom>
          <a:noFill/>
          <a:ln/>
        </p:spPr>
        <p:txBody>
          <a:bodyPr wrap="square" lIns="0" tIns="0" rIns="0" bIns="0" rtlCol="0" anchor="ctr"/>
          <a:lstStyle/>
          <a:p>
            <a:pPr marL="0" indent="0">
              <a:buNone/>
            </a:pPr>
            <a:r>
              <a:rPr lang="en-US" sz="2000" b="1" dirty="0">
                <a:solidFill>
                  <a:srgbClr val="1F2430"/>
                </a:solidFill>
                <a:latin typeface="Cambria" pitchFamily="34" charset="0"/>
                <a:ea typeface="Cambria" pitchFamily="34" charset="-122"/>
                <a:cs typeface="Cambria" pitchFamily="34" charset="-120"/>
              </a:rPr>
              <a:t>70,000</a:t>
            </a:r>
            <a:endParaRPr lang="en-US" sz="2000" dirty="0"/>
          </a:p>
        </p:txBody>
      </p:sp>
      <p:sp>
        <p:nvSpPr>
          <p:cNvPr id="18" name="Shape 16"/>
          <p:cNvSpPr/>
          <p:nvPr/>
        </p:nvSpPr>
        <p:spPr>
          <a:xfrm>
            <a:off x="7680960" y="3438144"/>
            <a:ext cx="3639312" cy="0"/>
          </a:xfrm>
          <a:prstGeom prst="line">
            <a:avLst/>
          </a:prstGeom>
          <a:noFill/>
          <a:ln w="6350">
            <a:solidFill>
              <a:srgbClr val="B3395A">
                <a:alpha val="30000"/>
              </a:srgbClr>
            </a:solidFill>
            <a:prstDash val="solid"/>
          </a:ln>
        </p:spPr>
        <p:txBody>
          <a:bodyPr/>
          <a:lstStyle/>
          <a:p>
            <a:endParaRPr lang="en-GB"/>
          </a:p>
        </p:txBody>
      </p:sp>
      <p:sp>
        <p:nvSpPr>
          <p:cNvPr id="19" name="Text 17"/>
          <p:cNvSpPr/>
          <p:nvPr/>
        </p:nvSpPr>
        <p:spPr>
          <a:xfrm>
            <a:off x="7680960" y="3566160"/>
            <a:ext cx="3639312" cy="237744"/>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COLUMNS</a:t>
            </a:r>
            <a:endParaRPr lang="en-US" sz="1200" dirty="0"/>
          </a:p>
        </p:txBody>
      </p:sp>
      <p:sp>
        <p:nvSpPr>
          <p:cNvPr id="20" name="Text 18"/>
          <p:cNvSpPr/>
          <p:nvPr/>
        </p:nvSpPr>
        <p:spPr>
          <a:xfrm>
            <a:off x="7680960" y="3785616"/>
            <a:ext cx="3639312" cy="411480"/>
          </a:xfrm>
          <a:prstGeom prst="rect">
            <a:avLst/>
          </a:prstGeom>
          <a:noFill/>
          <a:ln/>
        </p:spPr>
        <p:txBody>
          <a:bodyPr wrap="square" lIns="0" tIns="0" rIns="0" bIns="0" rtlCol="0" anchor="ctr"/>
          <a:lstStyle/>
          <a:p>
            <a:pPr marL="0" indent="0">
              <a:buNone/>
            </a:pPr>
            <a:r>
              <a:rPr lang="en-US" sz="1450" b="1" dirty="0">
                <a:solidFill>
                  <a:srgbClr val="1F2430"/>
                </a:solidFill>
                <a:latin typeface="Cambria" pitchFamily="34" charset="0"/>
                <a:ea typeface="Cambria" pitchFamily="34" charset="-122"/>
                <a:cs typeface="Cambria" pitchFamily="34" charset="-120"/>
              </a:rPr>
              <a:t>13 features</a:t>
            </a:r>
            <a:endParaRPr lang="en-US" sz="1450" dirty="0"/>
          </a:p>
        </p:txBody>
      </p:sp>
      <p:sp>
        <p:nvSpPr>
          <p:cNvPr id="21" name="Shape 19"/>
          <p:cNvSpPr/>
          <p:nvPr/>
        </p:nvSpPr>
        <p:spPr>
          <a:xfrm>
            <a:off x="7680960" y="4059936"/>
            <a:ext cx="3639312" cy="0"/>
          </a:xfrm>
          <a:prstGeom prst="line">
            <a:avLst/>
          </a:prstGeom>
          <a:noFill/>
          <a:ln w="6350">
            <a:solidFill>
              <a:srgbClr val="B3395A">
                <a:alpha val="30000"/>
              </a:srgbClr>
            </a:solidFill>
            <a:prstDash val="solid"/>
          </a:ln>
        </p:spPr>
        <p:txBody>
          <a:bodyPr/>
          <a:lstStyle/>
          <a:p>
            <a:endParaRPr lang="en-GB"/>
          </a:p>
        </p:txBody>
      </p:sp>
      <p:sp>
        <p:nvSpPr>
          <p:cNvPr id="22" name="Text 20"/>
          <p:cNvSpPr/>
          <p:nvPr/>
        </p:nvSpPr>
        <p:spPr>
          <a:xfrm>
            <a:off x="7680960" y="4187952"/>
            <a:ext cx="3639312" cy="237744"/>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TARGET</a:t>
            </a:r>
            <a:endParaRPr lang="en-US" sz="1200" dirty="0"/>
          </a:p>
        </p:txBody>
      </p:sp>
      <p:sp>
        <p:nvSpPr>
          <p:cNvPr id="23" name="Text 21"/>
          <p:cNvSpPr/>
          <p:nvPr/>
        </p:nvSpPr>
        <p:spPr>
          <a:xfrm>
            <a:off x="7680960" y="4407408"/>
            <a:ext cx="3639312" cy="411480"/>
          </a:xfrm>
          <a:prstGeom prst="rect">
            <a:avLst/>
          </a:prstGeom>
          <a:noFill/>
          <a:ln/>
        </p:spPr>
        <p:txBody>
          <a:bodyPr wrap="square" lIns="0" tIns="0" rIns="0" bIns="0" rtlCol="0" anchor="ctr"/>
          <a:lstStyle/>
          <a:p>
            <a:pPr marL="0" indent="0">
              <a:buNone/>
            </a:pPr>
            <a:r>
              <a:rPr lang="en-US" sz="1450" b="1" dirty="0">
                <a:solidFill>
                  <a:srgbClr val="1F2430"/>
                </a:solidFill>
                <a:latin typeface="Cambria" pitchFamily="34" charset="0"/>
                <a:ea typeface="Cambria" pitchFamily="34" charset="-122"/>
                <a:cs typeface="Cambria" pitchFamily="34" charset="-120"/>
              </a:rPr>
              <a:t>cardio (0 = no disease, 1 = disease)</a:t>
            </a:r>
            <a:endParaRPr lang="en-US" sz="1450" dirty="0"/>
          </a:p>
        </p:txBody>
      </p:sp>
      <p:sp>
        <p:nvSpPr>
          <p:cNvPr id="24" name="Shape 22"/>
          <p:cNvSpPr/>
          <p:nvPr/>
        </p:nvSpPr>
        <p:spPr>
          <a:xfrm>
            <a:off x="7680960" y="4681728"/>
            <a:ext cx="3639312" cy="0"/>
          </a:xfrm>
          <a:prstGeom prst="line">
            <a:avLst/>
          </a:prstGeom>
          <a:noFill/>
          <a:ln w="6350">
            <a:solidFill>
              <a:srgbClr val="B3395A">
                <a:alpha val="30000"/>
              </a:srgbClr>
            </a:solidFill>
            <a:prstDash val="solid"/>
          </a:ln>
        </p:spPr>
        <p:txBody>
          <a:bodyPr/>
          <a:lstStyle/>
          <a:p>
            <a:endParaRPr lang="en-GB"/>
          </a:p>
        </p:txBody>
      </p:sp>
      <p:sp>
        <p:nvSpPr>
          <p:cNvPr id="25" name="Text 23"/>
          <p:cNvSpPr/>
          <p:nvPr/>
        </p:nvSpPr>
        <p:spPr>
          <a:xfrm>
            <a:off x="7680960" y="4809744"/>
            <a:ext cx="3639312" cy="237744"/>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TASK</a:t>
            </a:r>
            <a:endParaRPr lang="en-US" sz="1200" dirty="0"/>
          </a:p>
        </p:txBody>
      </p:sp>
      <p:sp>
        <p:nvSpPr>
          <p:cNvPr id="26" name="Text 24"/>
          <p:cNvSpPr/>
          <p:nvPr/>
        </p:nvSpPr>
        <p:spPr>
          <a:xfrm>
            <a:off x="7680960" y="5029200"/>
            <a:ext cx="3639312" cy="411480"/>
          </a:xfrm>
          <a:prstGeom prst="rect">
            <a:avLst/>
          </a:prstGeom>
          <a:noFill/>
          <a:ln/>
        </p:spPr>
        <p:txBody>
          <a:bodyPr wrap="square" lIns="0" tIns="0" rIns="0" bIns="0" rtlCol="0" anchor="ctr"/>
          <a:lstStyle/>
          <a:p>
            <a:pPr marL="0" indent="0">
              <a:buNone/>
            </a:pPr>
            <a:r>
              <a:rPr lang="en-US" sz="1450" b="1" dirty="0">
                <a:solidFill>
                  <a:srgbClr val="1F2430"/>
                </a:solidFill>
                <a:latin typeface="Cambria" pitchFamily="34" charset="0"/>
                <a:ea typeface="Cambria" pitchFamily="34" charset="-122"/>
                <a:cs typeface="Cambria" pitchFamily="34" charset="-120"/>
              </a:rPr>
              <a:t>Binary Classification</a:t>
            </a:r>
            <a:endParaRPr lang="en-US" sz="1450" dirty="0"/>
          </a:p>
        </p:txBody>
      </p:sp>
      <p:sp>
        <p:nvSpPr>
          <p:cNvPr id="27" name="Text 25"/>
          <p:cNvSpPr/>
          <p:nvPr/>
        </p:nvSpPr>
        <p:spPr>
          <a:xfrm>
            <a:off x="457200" y="6519672"/>
            <a:ext cx="73152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Capstone Part 1 · Lightning Talk</a:t>
            </a:r>
            <a:endParaRPr lang="en-US" sz="1000" dirty="0"/>
          </a:p>
        </p:txBody>
      </p:sp>
      <p:sp>
        <p:nvSpPr>
          <p:cNvPr id="28" name="Text 26"/>
          <p:cNvSpPr/>
          <p:nvPr/>
        </p:nvSpPr>
        <p:spPr>
          <a:xfrm>
            <a:off x="11365992" y="6519672"/>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B3395A"/>
          </a:solidFill>
          <a:ln/>
        </p:spPr>
        <p:txBody>
          <a:bodyPr/>
          <a:lstStyle/>
          <a:p>
            <a:endParaRPr lang="en-GB"/>
          </a:p>
        </p:txBody>
      </p:sp>
      <p:sp>
        <p:nvSpPr>
          <p:cNvPr id="3" name="Text 1"/>
          <p:cNvSpPr/>
          <p:nvPr/>
        </p:nvSpPr>
        <p:spPr>
          <a:xfrm>
            <a:off x="457200" y="411480"/>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4" name="Text 2"/>
          <p:cNvSpPr/>
          <p:nvPr/>
        </p:nvSpPr>
        <p:spPr>
          <a:xfrm>
            <a:off x="1170432" y="402336"/>
            <a:ext cx="7315200" cy="274320"/>
          </a:xfrm>
          <a:prstGeom prst="rect">
            <a:avLst/>
          </a:prstGeom>
          <a:noFill/>
          <a:ln/>
        </p:spPr>
        <p:txBody>
          <a:bodyPr wrap="square" lIns="0" tIns="0" rIns="0" bIns="0" rtlCol="0" anchor="ctr"/>
          <a:lstStyle/>
          <a:p>
            <a:pPr marL="0" indent="0">
              <a:buNone/>
            </a:pPr>
            <a:r>
              <a:rPr lang="en-US" sz="1250" b="1" kern="0" spc="150" dirty="0">
                <a:solidFill>
                  <a:srgbClr val="B3395A"/>
                </a:solidFill>
                <a:latin typeface="Calibri" pitchFamily="34" charset="0"/>
                <a:ea typeface="Calibri" pitchFamily="34" charset="-122"/>
                <a:cs typeface="Calibri" pitchFamily="34" charset="-120"/>
              </a:rPr>
              <a:t>TOPIC 02 — EDA FINDINGS</a:t>
            </a:r>
            <a:endParaRPr lang="en-US" sz="1250" dirty="0"/>
          </a:p>
        </p:txBody>
      </p:sp>
      <p:sp>
        <p:nvSpPr>
          <p:cNvPr id="5" name="Text 3"/>
          <p:cNvSpPr/>
          <p:nvPr/>
        </p:nvSpPr>
        <p:spPr>
          <a:xfrm>
            <a:off x="1170432" y="640080"/>
            <a:ext cx="9875520" cy="502920"/>
          </a:xfrm>
          <a:prstGeom prst="rect">
            <a:avLst/>
          </a:prstGeom>
          <a:noFill/>
          <a:ln/>
        </p:spPr>
        <p:txBody>
          <a:bodyPr wrap="square" lIns="0" tIns="0" rIns="0" bIns="0" rtlCol="0" anchor="ctr"/>
          <a:lstStyle/>
          <a:p>
            <a:pPr marL="0" indent="0">
              <a:buNone/>
            </a:pPr>
            <a:r>
              <a:rPr lang="en-US" sz="2600" b="1" dirty="0">
                <a:solidFill>
                  <a:srgbClr val="1F2430"/>
                </a:solidFill>
                <a:latin typeface="Cambria" pitchFamily="34" charset="0"/>
                <a:ea typeface="Cambria" pitchFamily="34" charset="-122"/>
                <a:cs typeface="Cambria" pitchFamily="34" charset="-120"/>
              </a:rPr>
              <a:t>Cardiovascular Disease Prediction</a:t>
            </a:r>
            <a:endParaRPr lang="en-US" sz="2600" dirty="0"/>
          </a:p>
        </p:txBody>
      </p:sp>
      <p:sp>
        <p:nvSpPr>
          <p:cNvPr id="6" name="Shape 4"/>
          <p:cNvSpPr/>
          <p:nvPr/>
        </p:nvSpPr>
        <p:spPr>
          <a:xfrm>
            <a:off x="548640" y="1417320"/>
            <a:ext cx="3514344" cy="1417320"/>
          </a:xfrm>
          <a:prstGeom prst="roundRect">
            <a:avLst>
              <a:gd name="adj" fmla="val 5161"/>
            </a:avLst>
          </a:prstGeom>
          <a:solidFill>
            <a:srgbClr val="FBEAF0"/>
          </a:solidFill>
          <a:ln/>
        </p:spPr>
        <p:txBody>
          <a:bodyPr/>
          <a:lstStyle/>
          <a:p>
            <a:endParaRPr lang="en-GB" sz="1400"/>
          </a:p>
        </p:txBody>
      </p:sp>
      <p:sp>
        <p:nvSpPr>
          <p:cNvPr id="7" name="Text 5"/>
          <p:cNvSpPr/>
          <p:nvPr/>
        </p:nvSpPr>
        <p:spPr>
          <a:xfrm>
            <a:off x="777240" y="1581912"/>
            <a:ext cx="3057144" cy="274320"/>
          </a:xfrm>
          <a:prstGeom prst="rect">
            <a:avLst/>
          </a:prstGeom>
          <a:noFill/>
          <a:ln/>
        </p:spPr>
        <p:txBody>
          <a:bodyPr wrap="square" lIns="0" tIns="0" rIns="0" bIns="0" rtlCol="0" anchor="ctr"/>
          <a:lstStyle/>
          <a:p>
            <a:pPr marL="0" indent="0">
              <a:buNone/>
            </a:pPr>
            <a:r>
              <a:rPr lang="en-US" sz="1400" b="1" kern="0" spc="100" dirty="0">
                <a:solidFill>
                  <a:srgbClr val="B3395A"/>
                </a:solidFill>
                <a:latin typeface="Calibri" pitchFamily="34" charset="0"/>
                <a:ea typeface="Calibri" pitchFamily="34" charset="-122"/>
                <a:cs typeface="Calibri" pitchFamily="34" charset="-120"/>
              </a:rPr>
              <a:t>PROBLEM TYPE</a:t>
            </a:r>
            <a:endParaRPr lang="en-US" sz="1400" dirty="0"/>
          </a:p>
        </p:txBody>
      </p:sp>
      <p:sp>
        <p:nvSpPr>
          <p:cNvPr id="8" name="Text 6"/>
          <p:cNvSpPr/>
          <p:nvPr/>
        </p:nvSpPr>
        <p:spPr>
          <a:xfrm>
            <a:off x="777240" y="1874520"/>
            <a:ext cx="3057144" cy="594360"/>
          </a:xfrm>
          <a:prstGeom prst="rect">
            <a:avLst/>
          </a:prstGeom>
          <a:noFill/>
          <a:ln/>
        </p:spPr>
        <p:txBody>
          <a:bodyPr wrap="square" lIns="0" tIns="0" rIns="0" bIns="0" rtlCol="0" anchor="ctr"/>
          <a:lstStyle/>
          <a:p>
            <a:pPr marL="0" indent="0">
              <a:buNone/>
            </a:pPr>
            <a:r>
              <a:rPr lang="en-US" sz="2600" b="1" dirty="0">
                <a:solidFill>
                  <a:srgbClr val="1F2430"/>
                </a:solidFill>
                <a:latin typeface="Cambria" pitchFamily="34" charset="0"/>
                <a:ea typeface="Cambria" pitchFamily="34" charset="-122"/>
                <a:cs typeface="Cambria" pitchFamily="34" charset="-120"/>
              </a:rPr>
              <a:t>Classification</a:t>
            </a:r>
            <a:endParaRPr lang="en-US" sz="2600" dirty="0"/>
          </a:p>
        </p:txBody>
      </p:sp>
      <p:sp>
        <p:nvSpPr>
          <p:cNvPr id="9" name="Text 7"/>
          <p:cNvSpPr/>
          <p:nvPr/>
        </p:nvSpPr>
        <p:spPr>
          <a:xfrm>
            <a:off x="777240" y="2459736"/>
            <a:ext cx="3057144"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target cardio is binary — and well balanced</a:t>
            </a:r>
            <a:endParaRPr lang="en-US" sz="1400" dirty="0"/>
          </a:p>
        </p:txBody>
      </p:sp>
      <p:sp>
        <p:nvSpPr>
          <p:cNvPr id="10" name="Shape 8"/>
          <p:cNvSpPr/>
          <p:nvPr/>
        </p:nvSpPr>
        <p:spPr>
          <a:xfrm>
            <a:off x="4337304" y="1417320"/>
            <a:ext cx="3514344" cy="1417320"/>
          </a:xfrm>
          <a:prstGeom prst="roundRect">
            <a:avLst>
              <a:gd name="adj" fmla="val 5161"/>
            </a:avLst>
          </a:prstGeom>
          <a:solidFill>
            <a:srgbClr val="FBEAF0"/>
          </a:solidFill>
          <a:ln/>
        </p:spPr>
        <p:txBody>
          <a:bodyPr/>
          <a:lstStyle/>
          <a:p>
            <a:endParaRPr lang="en-GB"/>
          </a:p>
        </p:txBody>
      </p:sp>
      <p:sp>
        <p:nvSpPr>
          <p:cNvPr id="11" name="Text 9"/>
          <p:cNvSpPr/>
          <p:nvPr/>
        </p:nvSpPr>
        <p:spPr>
          <a:xfrm>
            <a:off x="4565904" y="1581912"/>
            <a:ext cx="3057144" cy="274320"/>
          </a:xfrm>
          <a:prstGeom prst="rect">
            <a:avLst/>
          </a:prstGeom>
          <a:noFill/>
          <a:ln/>
        </p:spPr>
        <p:txBody>
          <a:bodyPr wrap="square" lIns="0" tIns="0" rIns="0" bIns="0" rtlCol="0" anchor="ctr"/>
          <a:lstStyle/>
          <a:p>
            <a:pPr marL="0" indent="0">
              <a:buNone/>
            </a:pPr>
            <a:r>
              <a:rPr lang="en-US" sz="1400" b="1" kern="0" spc="100" dirty="0">
                <a:solidFill>
                  <a:srgbClr val="B3395A"/>
                </a:solidFill>
                <a:latin typeface="Calibri" pitchFamily="34" charset="0"/>
                <a:ea typeface="Calibri" pitchFamily="34" charset="-122"/>
                <a:cs typeface="Calibri" pitchFamily="34" charset="-120"/>
              </a:rPr>
              <a:t>MISSING VALUES</a:t>
            </a:r>
            <a:endParaRPr lang="en-US" sz="1400" dirty="0"/>
          </a:p>
        </p:txBody>
      </p:sp>
      <p:sp>
        <p:nvSpPr>
          <p:cNvPr id="12" name="Text 10"/>
          <p:cNvSpPr/>
          <p:nvPr/>
        </p:nvSpPr>
        <p:spPr>
          <a:xfrm>
            <a:off x="4565904" y="1874520"/>
            <a:ext cx="3057144" cy="594360"/>
          </a:xfrm>
          <a:prstGeom prst="rect">
            <a:avLst/>
          </a:prstGeom>
          <a:noFill/>
          <a:ln/>
        </p:spPr>
        <p:txBody>
          <a:bodyPr wrap="square" lIns="0" tIns="0" rIns="0" bIns="0" rtlCol="0" anchor="ctr"/>
          <a:lstStyle/>
          <a:p>
            <a:pPr marL="0" indent="0">
              <a:buNone/>
            </a:pPr>
            <a:r>
              <a:rPr lang="en-US" sz="2600" b="1" dirty="0">
                <a:solidFill>
                  <a:srgbClr val="1F2430"/>
                </a:solidFill>
                <a:latin typeface="Cambria" pitchFamily="34" charset="0"/>
                <a:ea typeface="Cambria" pitchFamily="34" charset="-122"/>
                <a:cs typeface="Cambria" pitchFamily="34" charset="-120"/>
              </a:rPr>
              <a:t>0</a:t>
            </a:r>
            <a:endParaRPr lang="en-US" sz="2600" dirty="0"/>
          </a:p>
        </p:txBody>
      </p:sp>
      <p:sp>
        <p:nvSpPr>
          <p:cNvPr id="13" name="Text 11"/>
          <p:cNvSpPr/>
          <p:nvPr/>
        </p:nvSpPr>
        <p:spPr>
          <a:xfrm>
            <a:off x="4565904" y="2459736"/>
            <a:ext cx="3057144"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no imputation needed</a:t>
            </a:r>
            <a:endParaRPr lang="en-US" sz="1400" dirty="0"/>
          </a:p>
        </p:txBody>
      </p:sp>
      <p:sp>
        <p:nvSpPr>
          <p:cNvPr id="14" name="Shape 12"/>
          <p:cNvSpPr/>
          <p:nvPr/>
        </p:nvSpPr>
        <p:spPr>
          <a:xfrm>
            <a:off x="8125968" y="1417320"/>
            <a:ext cx="3514344" cy="1417320"/>
          </a:xfrm>
          <a:prstGeom prst="roundRect">
            <a:avLst>
              <a:gd name="adj" fmla="val 5161"/>
            </a:avLst>
          </a:prstGeom>
          <a:solidFill>
            <a:srgbClr val="FBEAF0"/>
          </a:solidFill>
          <a:ln/>
        </p:spPr>
        <p:txBody>
          <a:bodyPr/>
          <a:lstStyle/>
          <a:p>
            <a:endParaRPr lang="en-GB"/>
          </a:p>
        </p:txBody>
      </p:sp>
      <p:sp>
        <p:nvSpPr>
          <p:cNvPr id="15" name="Text 13"/>
          <p:cNvSpPr/>
          <p:nvPr/>
        </p:nvSpPr>
        <p:spPr>
          <a:xfrm>
            <a:off x="8354568" y="1581912"/>
            <a:ext cx="3057144" cy="274320"/>
          </a:xfrm>
          <a:prstGeom prst="rect">
            <a:avLst/>
          </a:prstGeom>
          <a:noFill/>
          <a:ln/>
        </p:spPr>
        <p:txBody>
          <a:bodyPr wrap="square" lIns="0" tIns="0" rIns="0" bIns="0" rtlCol="0" anchor="ctr"/>
          <a:lstStyle/>
          <a:p>
            <a:pPr marL="0" indent="0">
              <a:buNone/>
            </a:pPr>
            <a:r>
              <a:rPr lang="en-US" sz="1400" b="1" kern="0" spc="100" dirty="0">
                <a:solidFill>
                  <a:srgbClr val="B3395A"/>
                </a:solidFill>
                <a:latin typeface="Calibri" pitchFamily="34" charset="0"/>
                <a:ea typeface="Calibri" pitchFamily="34" charset="-122"/>
                <a:cs typeface="Calibri" pitchFamily="34" charset="-120"/>
              </a:rPr>
              <a:t>FEATURE MIX</a:t>
            </a:r>
            <a:endParaRPr lang="en-US" sz="1400" dirty="0"/>
          </a:p>
        </p:txBody>
      </p:sp>
      <p:sp>
        <p:nvSpPr>
          <p:cNvPr id="16" name="Text 14"/>
          <p:cNvSpPr/>
          <p:nvPr/>
        </p:nvSpPr>
        <p:spPr>
          <a:xfrm>
            <a:off x="8354568" y="1874520"/>
            <a:ext cx="3057144" cy="594360"/>
          </a:xfrm>
          <a:prstGeom prst="rect">
            <a:avLst/>
          </a:prstGeom>
          <a:noFill/>
          <a:ln/>
        </p:spPr>
        <p:txBody>
          <a:bodyPr wrap="square" lIns="0" tIns="0" rIns="0" bIns="0" rtlCol="0" anchor="ctr"/>
          <a:lstStyle/>
          <a:p>
            <a:pPr marL="0" indent="0">
              <a:buNone/>
            </a:pPr>
            <a:r>
              <a:rPr lang="en-US" sz="2200" b="1" dirty="0">
                <a:solidFill>
                  <a:srgbClr val="1F2430"/>
                </a:solidFill>
                <a:latin typeface="Cambria" pitchFamily="34" charset="0"/>
                <a:ea typeface="Cambria" pitchFamily="34" charset="-122"/>
                <a:cs typeface="Cambria" pitchFamily="34" charset="-120"/>
              </a:rPr>
              <a:t>6 cat  /  5 num</a:t>
            </a:r>
            <a:endParaRPr lang="en-US" sz="2200" dirty="0"/>
          </a:p>
        </p:txBody>
      </p:sp>
      <p:sp>
        <p:nvSpPr>
          <p:cNvPr id="17" name="Text 15"/>
          <p:cNvSpPr/>
          <p:nvPr/>
        </p:nvSpPr>
        <p:spPr>
          <a:xfrm>
            <a:off x="8354568" y="2459736"/>
            <a:ext cx="3057144"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categorical vs. numerical</a:t>
            </a:r>
            <a:endParaRPr lang="en-US" sz="1400" dirty="0"/>
          </a:p>
        </p:txBody>
      </p:sp>
      <p:sp>
        <p:nvSpPr>
          <p:cNvPr id="18" name="Shape 16"/>
          <p:cNvSpPr/>
          <p:nvPr/>
        </p:nvSpPr>
        <p:spPr>
          <a:xfrm>
            <a:off x="548640" y="3200400"/>
            <a:ext cx="5440680" cy="3063240"/>
          </a:xfrm>
          <a:prstGeom prst="roundRect">
            <a:avLst>
              <a:gd name="adj" fmla="val 2388"/>
            </a:avLst>
          </a:prstGeom>
          <a:solidFill>
            <a:srgbClr val="F7F9FC"/>
          </a:solidFill>
          <a:ln/>
        </p:spPr>
        <p:txBody>
          <a:bodyPr/>
          <a:lstStyle/>
          <a:p>
            <a:endParaRPr lang="en-GB" sz="1600"/>
          </a:p>
        </p:txBody>
      </p:sp>
      <p:sp>
        <p:nvSpPr>
          <p:cNvPr id="19" name="Text 17"/>
          <p:cNvSpPr/>
          <p:nvPr/>
        </p:nvSpPr>
        <p:spPr>
          <a:xfrm>
            <a:off x="777240" y="3429000"/>
            <a:ext cx="4983480" cy="274320"/>
          </a:xfrm>
          <a:prstGeom prst="rect">
            <a:avLst/>
          </a:prstGeom>
          <a:noFill/>
          <a:ln/>
        </p:spPr>
        <p:txBody>
          <a:bodyPr wrap="square" lIns="0" tIns="0" rIns="0" bIns="0" rtlCol="0" anchor="ctr"/>
          <a:lstStyle/>
          <a:p>
            <a:pPr marL="0" indent="0">
              <a:buNone/>
            </a:pPr>
            <a:r>
              <a:rPr lang="en-US" sz="1400" b="1" kern="0" spc="100" dirty="0">
                <a:solidFill>
                  <a:srgbClr val="B3395A"/>
                </a:solidFill>
                <a:latin typeface="Calibri" pitchFamily="34" charset="0"/>
                <a:ea typeface="Calibri" pitchFamily="34" charset="-122"/>
                <a:cs typeface="Calibri" pitchFamily="34" charset="-120"/>
              </a:rPr>
              <a:t>STRONGEST CORRELATIONS WITH TARGET</a:t>
            </a:r>
            <a:endParaRPr lang="en-US" sz="1400" dirty="0"/>
          </a:p>
        </p:txBody>
      </p:sp>
      <p:sp>
        <p:nvSpPr>
          <p:cNvPr id="20" name="Text 18"/>
          <p:cNvSpPr/>
          <p:nvPr/>
        </p:nvSpPr>
        <p:spPr>
          <a:xfrm>
            <a:off x="777240" y="3858768"/>
            <a:ext cx="2377440" cy="365760"/>
          </a:xfrm>
          <a:prstGeom prst="rect">
            <a:avLst/>
          </a:prstGeom>
          <a:noFill/>
          <a:ln/>
        </p:spPr>
        <p:txBody>
          <a:bodyPr wrap="square" lIns="0" tIns="0" rIns="0" bIns="0" rtlCol="0" anchor="ctr"/>
          <a:lstStyle/>
          <a:p>
            <a:pPr marL="0" indent="0">
              <a:buNone/>
            </a:pPr>
            <a:r>
              <a:rPr lang="en-US" sz="1600" b="1" dirty="0">
                <a:solidFill>
                  <a:srgbClr val="232838"/>
                </a:solidFill>
                <a:latin typeface="Calibri" pitchFamily="34" charset="0"/>
                <a:ea typeface="Calibri" pitchFamily="34" charset="-122"/>
                <a:cs typeface="Calibri" pitchFamily="34" charset="-120"/>
              </a:rPr>
              <a:t>age</a:t>
            </a:r>
            <a:endParaRPr lang="en-US" sz="1600" dirty="0"/>
          </a:p>
        </p:txBody>
      </p:sp>
      <p:sp>
        <p:nvSpPr>
          <p:cNvPr id="21" name="Shape 19"/>
          <p:cNvSpPr/>
          <p:nvPr/>
        </p:nvSpPr>
        <p:spPr>
          <a:xfrm>
            <a:off x="3246120" y="3941064"/>
            <a:ext cx="2011680" cy="182880"/>
          </a:xfrm>
          <a:prstGeom prst="roundRect">
            <a:avLst>
              <a:gd name="adj" fmla="val 20000"/>
            </a:avLst>
          </a:prstGeom>
          <a:solidFill>
            <a:srgbClr val="E4E8F2"/>
          </a:solidFill>
          <a:ln/>
        </p:spPr>
        <p:txBody>
          <a:bodyPr/>
          <a:lstStyle/>
          <a:p>
            <a:endParaRPr lang="en-GB"/>
          </a:p>
        </p:txBody>
      </p:sp>
      <p:sp>
        <p:nvSpPr>
          <p:cNvPr id="22" name="Shape 20"/>
          <p:cNvSpPr/>
          <p:nvPr/>
        </p:nvSpPr>
        <p:spPr>
          <a:xfrm>
            <a:off x="3246120" y="3941064"/>
            <a:ext cx="478780" cy="182880"/>
          </a:xfrm>
          <a:prstGeom prst="roundRect">
            <a:avLst>
              <a:gd name="adj" fmla="val 20000"/>
            </a:avLst>
          </a:prstGeom>
          <a:solidFill>
            <a:srgbClr val="B3395A"/>
          </a:solidFill>
          <a:ln/>
        </p:spPr>
        <p:txBody>
          <a:bodyPr/>
          <a:lstStyle/>
          <a:p>
            <a:endParaRPr lang="en-GB"/>
          </a:p>
        </p:txBody>
      </p:sp>
      <p:sp>
        <p:nvSpPr>
          <p:cNvPr id="23" name="Text 21"/>
          <p:cNvSpPr/>
          <p:nvPr/>
        </p:nvSpPr>
        <p:spPr>
          <a:xfrm>
            <a:off x="5330952" y="3858768"/>
            <a:ext cx="457200" cy="3657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0.24</a:t>
            </a:r>
            <a:endParaRPr lang="en-US" sz="1150" dirty="0"/>
          </a:p>
        </p:txBody>
      </p:sp>
      <p:sp>
        <p:nvSpPr>
          <p:cNvPr id="24" name="Text 22"/>
          <p:cNvSpPr/>
          <p:nvPr/>
        </p:nvSpPr>
        <p:spPr>
          <a:xfrm>
            <a:off x="777240" y="4334256"/>
            <a:ext cx="2377440" cy="365760"/>
          </a:xfrm>
          <a:prstGeom prst="rect">
            <a:avLst/>
          </a:prstGeom>
          <a:noFill/>
          <a:ln/>
        </p:spPr>
        <p:txBody>
          <a:bodyPr wrap="square" lIns="0" tIns="0" rIns="0" bIns="0" rtlCol="0" anchor="ctr"/>
          <a:lstStyle/>
          <a:p>
            <a:pPr marL="0" indent="0">
              <a:buNone/>
            </a:pPr>
            <a:r>
              <a:rPr lang="en-US" sz="1600" b="1" dirty="0">
                <a:solidFill>
                  <a:srgbClr val="232838"/>
                </a:solidFill>
                <a:latin typeface="Calibri" pitchFamily="34" charset="0"/>
                <a:ea typeface="Calibri" pitchFamily="34" charset="-122"/>
                <a:cs typeface="Calibri" pitchFamily="34" charset="-120"/>
              </a:rPr>
              <a:t>cholesterol</a:t>
            </a:r>
            <a:endParaRPr lang="en-US" sz="1600" dirty="0"/>
          </a:p>
        </p:txBody>
      </p:sp>
      <p:sp>
        <p:nvSpPr>
          <p:cNvPr id="25" name="Shape 23"/>
          <p:cNvSpPr/>
          <p:nvPr/>
        </p:nvSpPr>
        <p:spPr>
          <a:xfrm>
            <a:off x="3246120" y="4416552"/>
            <a:ext cx="2011680" cy="182880"/>
          </a:xfrm>
          <a:prstGeom prst="roundRect">
            <a:avLst>
              <a:gd name="adj" fmla="val 20000"/>
            </a:avLst>
          </a:prstGeom>
          <a:solidFill>
            <a:srgbClr val="E4E8F2"/>
          </a:solidFill>
          <a:ln/>
        </p:spPr>
        <p:txBody>
          <a:bodyPr/>
          <a:lstStyle/>
          <a:p>
            <a:endParaRPr lang="en-GB"/>
          </a:p>
        </p:txBody>
      </p:sp>
      <p:sp>
        <p:nvSpPr>
          <p:cNvPr id="26" name="Shape 24"/>
          <p:cNvSpPr/>
          <p:nvPr/>
        </p:nvSpPr>
        <p:spPr>
          <a:xfrm>
            <a:off x="3246120" y="4416552"/>
            <a:ext cx="444581" cy="182880"/>
          </a:xfrm>
          <a:prstGeom prst="roundRect">
            <a:avLst>
              <a:gd name="adj" fmla="val 20000"/>
            </a:avLst>
          </a:prstGeom>
          <a:solidFill>
            <a:srgbClr val="B3395A"/>
          </a:solidFill>
          <a:ln/>
        </p:spPr>
        <p:txBody>
          <a:bodyPr/>
          <a:lstStyle/>
          <a:p>
            <a:endParaRPr lang="en-GB"/>
          </a:p>
        </p:txBody>
      </p:sp>
      <p:sp>
        <p:nvSpPr>
          <p:cNvPr id="27" name="Text 25"/>
          <p:cNvSpPr/>
          <p:nvPr/>
        </p:nvSpPr>
        <p:spPr>
          <a:xfrm>
            <a:off x="5330952" y="4334256"/>
            <a:ext cx="457200" cy="3657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0.22</a:t>
            </a:r>
            <a:endParaRPr lang="en-US" sz="1150" dirty="0"/>
          </a:p>
        </p:txBody>
      </p:sp>
      <p:sp>
        <p:nvSpPr>
          <p:cNvPr id="28" name="Text 26"/>
          <p:cNvSpPr/>
          <p:nvPr/>
        </p:nvSpPr>
        <p:spPr>
          <a:xfrm>
            <a:off x="777240" y="4809744"/>
            <a:ext cx="2377440" cy="365760"/>
          </a:xfrm>
          <a:prstGeom prst="rect">
            <a:avLst/>
          </a:prstGeom>
          <a:noFill/>
          <a:ln/>
        </p:spPr>
        <p:txBody>
          <a:bodyPr wrap="square" lIns="0" tIns="0" rIns="0" bIns="0" rtlCol="0" anchor="ctr"/>
          <a:lstStyle/>
          <a:p>
            <a:pPr marL="0" indent="0">
              <a:buNone/>
            </a:pPr>
            <a:r>
              <a:rPr lang="en-US" sz="1600" b="1" dirty="0">
                <a:solidFill>
                  <a:srgbClr val="232838"/>
                </a:solidFill>
                <a:latin typeface="Calibri" pitchFamily="34" charset="0"/>
                <a:ea typeface="Calibri" pitchFamily="34" charset="-122"/>
                <a:cs typeface="Calibri" pitchFamily="34" charset="-120"/>
              </a:rPr>
              <a:t>weight</a:t>
            </a:r>
            <a:endParaRPr lang="en-US" sz="1600" dirty="0"/>
          </a:p>
        </p:txBody>
      </p:sp>
      <p:sp>
        <p:nvSpPr>
          <p:cNvPr id="29" name="Shape 27"/>
          <p:cNvSpPr/>
          <p:nvPr/>
        </p:nvSpPr>
        <p:spPr>
          <a:xfrm>
            <a:off x="3246120" y="4892040"/>
            <a:ext cx="2011680" cy="182880"/>
          </a:xfrm>
          <a:prstGeom prst="roundRect">
            <a:avLst>
              <a:gd name="adj" fmla="val 20000"/>
            </a:avLst>
          </a:prstGeom>
          <a:solidFill>
            <a:srgbClr val="E4E8F2"/>
          </a:solidFill>
          <a:ln/>
        </p:spPr>
        <p:txBody>
          <a:bodyPr/>
          <a:lstStyle/>
          <a:p>
            <a:endParaRPr lang="en-GB"/>
          </a:p>
        </p:txBody>
      </p:sp>
      <p:sp>
        <p:nvSpPr>
          <p:cNvPr id="30" name="Shape 28"/>
          <p:cNvSpPr/>
          <p:nvPr/>
        </p:nvSpPr>
        <p:spPr>
          <a:xfrm>
            <a:off x="3246120" y="4892040"/>
            <a:ext cx="366126" cy="182880"/>
          </a:xfrm>
          <a:prstGeom prst="roundRect">
            <a:avLst>
              <a:gd name="adj" fmla="val 20000"/>
            </a:avLst>
          </a:prstGeom>
          <a:solidFill>
            <a:srgbClr val="B3395A"/>
          </a:solidFill>
          <a:ln/>
        </p:spPr>
        <p:txBody>
          <a:bodyPr/>
          <a:lstStyle/>
          <a:p>
            <a:endParaRPr lang="en-GB"/>
          </a:p>
        </p:txBody>
      </p:sp>
      <p:sp>
        <p:nvSpPr>
          <p:cNvPr id="31" name="Text 29"/>
          <p:cNvSpPr/>
          <p:nvPr/>
        </p:nvSpPr>
        <p:spPr>
          <a:xfrm>
            <a:off x="5330952" y="4809744"/>
            <a:ext cx="457200" cy="3657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0.18</a:t>
            </a:r>
            <a:endParaRPr lang="en-US" sz="1150" dirty="0"/>
          </a:p>
        </p:txBody>
      </p:sp>
      <p:sp>
        <p:nvSpPr>
          <p:cNvPr id="32" name="Shape 30"/>
          <p:cNvSpPr/>
          <p:nvPr/>
        </p:nvSpPr>
        <p:spPr>
          <a:xfrm>
            <a:off x="6263640" y="3200400"/>
            <a:ext cx="5440680" cy="3063240"/>
          </a:xfrm>
          <a:prstGeom prst="roundRect">
            <a:avLst>
              <a:gd name="adj" fmla="val 2388"/>
            </a:avLst>
          </a:prstGeom>
          <a:solidFill>
            <a:srgbClr val="FBEAF0"/>
          </a:solidFill>
          <a:ln/>
        </p:spPr>
        <p:txBody>
          <a:bodyPr/>
          <a:lstStyle/>
          <a:p>
            <a:endParaRPr lang="en-GB"/>
          </a:p>
        </p:txBody>
      </p:sp>
      <p:sp>
        <p:nvSpPr>
          <p:cNvPr id="33" name="Text 31"/>
          <p:cNvSpPr/>
          <p:nvPr/>
        </p:nvSpPr>
        <p:spPr>
          <a:xfrm>
            <a:off x="6492240" y="3429000"/>
            <a:ext cx="4983480" cy="274320"/>
          </a:xfrm>
          <a:prstGeom prst="rect">
            <a:avLst/>
          </a:prstGeom>
          <a:noFill/>
          <a:ln/>
        </p:spPr>
        <p:txBody>
          <a:bodyPr wrap="square" lIns="0" tIns="0" rIns="0" bIns="0" rtlCol="0" anchor="ctr"/>
          <a:lstStyle/>
          <a:p>
            <a:pPr marL="0" indent="0">
              <a:buNone/>
            </a:pPr>
            <a:r>
              <a:rPr lang="en-US" sz="1400" b="1" kern="0" spc="100" dirty="0">
                <a:solidFill>
                  <a:srgbClr val="B3395A"/>
                </a:solidFill>
                <a:latin typeface="Calibri" pitchFamily="34" charset="0"/>
                <a:ea typeface="Calibri" pitchFamily="34" charset="-122"/>
                <a:cs typeface="Calibri" pitchFamily="34" charset="-120"/>
              </a:rPr>
              <a:t>OUTLIERS</a:t>
            </a:r>
            <a:endParaRPr lang="en-US" sz="1400" dirty="0"/>
          </a:p>
        </p:txBody>
      </p:sp>
      <p:sp>
        <p:nvSpPr>
          <p:cNvPr id="34" name="Text 32"/>
          <p:cNvSpPr/>
          <p:nvPr/>
        </p:nvSpPr>
        <p:spPr>
          <a:xfrm>
            <a:off x="6492240" y="3767328"/>
            <a:ext cx="4983480" cy="640080"/>
          </a:xfrm>
          <a:prstGeom prst="rect">
            <a:avLst/>
          </a:prstGeom>
          <a:noFill/>
          <a:ln/>
        </p:spPr>
        <p:txBody>
          <a:bodyPr wrap="square" lIns="0" tIns="0" rIns="0" bIns="0" rtlCol="0" anchor="ctr"/>
          <a:lstStyle/>
          <a:p>
            <a:pPr marL="0" indent="0">
              <a:lnSpc>
                <a:spcPct val="115000"/>
              </a:lnSpc>
              <a:buNone/>
            </a:pPr>
            <a:r>
              <a:rPr lang="en-US" sz="1450" b="1" dirty="0">
                <a:solidFill>
                  <a:srgbClr val="1F2430"/>
                </a:solidFill>
                <a:latin typeface="Cambria" pitchFamily="34" charset="0"/>
                <a:ea typeface="Cambria" pitchFamily="34" charset="-122"/>
                <a:cs typeface="Cambria" pitchFamily="34" charset="-120"/>
              </a:rPr>
              <a:t>ap_hi &amp; ap_lo hold unrealistic values</a:t>
            </a:r>
            <a:endParaRPr lang="en-US" sz="1450" dirty="0"/>
          </a:p>
        </p:txBody>
      </p:sp>
      <p:sp>
        <p:nvSpPr>
          <p:cNvPr id="35" name="Text 33"/>
          <p:cNvSpPr/>
          <p:nvPr/>
        </p:nvSpPr>
        <p:spPr>
          <a:xfrm>
            <a:off x="6492240" y="4224528"/>
            <a:ext cx="4983480" cy="1554480"/>
          </a:xfrm>
          <a:prstGeom prst="rect">
            <a:avLst/>
          </a:prstGeom>
          <a:noFill/>
          <a:ln/>
        </p:spPr>
        <p:txBody>
          <a:bodyPr wrap="square" lIns="0" tIns="0" rIns="0" bIns="0" rtlCol="0" anchor="ctr"/>
          <a:lstStyle/>
          <a:p>
            <a:pPr marL="0" indent="0">
              <a:lnSpc>
                <a:spcPct val="125000"/>
              </a:lnSpc>
              <a:buNone/>
            </a:pPr>
            <a:r>
              <a:rPr lang="en-US" sz="1400" dirty="0">
                <a:solidFill>
                  <a:srgbClr val="3D4457"/>
                </a:solidFill>
                <a:latin typeface="Calibri" pitchFamily="34" charset="0"/>
                <a:ea typeface="Calibri" pitchFamily="34" charset="-122"/>
                <a:cs typeface="Calibri" pitchFamily="34" charset="-120"/>
              </a:rPr>
              <a:t>Height and weight include some extreme-but-plausible values. Systolic (ap_hi) and diastolic (ap_lo) blood pressure readings contain likely data-entry errors that need correction or filtering to medically reasonable ranges before modeling.</a:t>
            </a:r>
            <a:endParaRPr lang="en-US" sz="1400" dirty="0"/>
          </a:p>
        </p:txBody>
      </p:sp>
      <p:sp>
        <p:nvSpPr>
          <p:cNvPr id="36" name="Text 34"/>
          <p:cNvSpPr/>
          <p:nvPr/>
        </p:nvSpPr>
        <p:spPr>
          <a:xfrm>
            <a:off x="457200" y="6519672"/>
            <a:ext cx="73152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Capstone Part 1 · Lightning Talk</a:t>
            </a:r>
            <a:endParaRPr lang="en-US" sz="1000" dirty="0"/>
          </a:p>
        </p:txBody>
      </p:sp>
      <p:sp>
        <p:nvSpPr>
          <p:cNvPr id="37" name="Text 35"/>
          <p:cNvSpPr/>
          <p:nvPr/>
        </p:nvSpPr>
        <p:spPr>
          <a:xfrm>
            <a:off x="11365992" y="6519672"/>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146B7A"/>
          </a:solidFill>
          <a:ln/>
        </p:spPr>
        <p:txBody>
          <a:bodyPr/>
          <a:lstStyle/>
          <a:p>
            <a:endParaRPr lang="en-GB"/>
          </a:p>
        </p:txBody>
      </p:sp>
      <p:sp>
        <p:nvSpPr>
          <p:cNvPr id="3" name="Text 1"/>
          <p:cNvSpPr/>
          <p:nvPr/>
        </p:nvSpPr>
        <p:spPr>
          <a:xfrm>
            <a:off x="457200" y="411480"/>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4" name="Text 2"/>
          <p:cNvSpPr/>
          <p:nvPr/>
        </p:nvSpPr>
        <p:spPr>
          <a:xfrm>
            <a:off x="1170432" y="402336"/>
            <a:ext cx="7315200" cy="274320"/>
          </a:xfrm>
          <a:prstGeom prst="rect">
            <a:avLst/>
          </a:prstGeom>
          <a:noFill/>
          <a:ln/>
        </p:spPr>
        <p:txBody>
          <a:bodyPr wrap="square" lIns="0" tIns="0" rIns="0" bIns="0" rtlCol="0" anchor="ctr"/>
          <a:lstStyle/>
          <a:p>
            <a:pPr marL="0" indent="0">
              <a:buNone/>
            </a:pPr>
            <a:r>
              <a:rPr lang="en-US" sz="1250" b="1" kern="0" spc="150" dirty="0">
                <a:solidFill>
                  <a:srgbClr val="146B7A"/>
                </a:solidFill>
                <a:latin typeface="Calibri" pitchFamily="34" charset="0"/>
                <a:ea typeface="Calibri" pitchFamily="34" charset="-122"/>
                <a:cs typeface="Calibri" pitchFamily="34" charset="-120"/>
              </a:rPr>
              <a:t>TOPIC 03</a:t>
            </a:r>
            <a:endParaRPr lang="en-US" sz="1250" dirty="0"/>
          </a:p>
        </p:txBody>
      </p:sp>
      <p:sp>
        <p:nvSpPr>
          <p:cNvPr id="5" name="Text 3"/>
          <p:cNvSpPr/>
          <p:nvPr/>
        </p:nvSpPr>
        <p:spPr>
          <a:xfrm>
            <a:off x="1170432" y="640080"/>
            <a:ext cx="9875520" cy="502920"/>
          </a:xfrm>
          <a:prstGeom prst="rect">
            <a:avLst/>
          </a:prstGeom>
          <a:noFill/>
          <a:ln/>
        </p:spPr>
        <p:txBody>
          <a:bodyPr wrap="square" lIns="0" tIns="0" rIns="0" bIns="0" rtlCol="0" anchor="ctr"/>
          <a:lstStyle/>
          <a:p>
            <a:pPr marL="0" indent="0">
              <a:buNone/>
            </a:pPr>
            <a:r>
              <a:rPr lang="en-US" sz="2600" b="1" dirty="0">
                <a:solidFill>
                  <a:srgbClr val="1F2430"/>
                </a:solidFill>
                <a:latin typeface="Cambria" pitchFamily="34" charset="0"/>
                <a:ea typeface="Cambria" pitchFamily="34" charset="-122"/>
                <a:cs typeface="Cambria" pitchFamily="34" charset="-120"/>
              </a:rPr>
              <a:t>Flight Delay Prediction</a:t>
            </a:r>
            <a:endParaRPr lang="en-US" sz="2600" dirty="0"/>
          </a:p>
        </p:txBody>
      </p:sp>
      <p:sp>
        <p:nvSpPr>
          <p:cNvPr id="6" name="Text 4"/>
          <p:cNvSpPr/>
          <p:nvPr/>
        </p:nvSpPr>
        <p:spPr>
          <a:xfrm>
            <a:off x="548640" y="1417320"/>
            <a:ext cx="6492240" cy="274320"/>
          </a:xfrm>
          <a:prstGeom prst="rect">
            <a:avLst/>
          </a:prstGeom>
          <a:noFill/>
          <a:ln/>
        </p:spPr>
        <p:txBody>
          <a:bodyPr wrap="square" lIns="0" tIns="0" rIns="0" bIns="0" rtlCol="0" anchor="ctr"/>
          <a:lstStyle/>
          <a:p>
            <a:pPr marL="0" indent="0">
              <a:buNone/>
            </a:pPr>
            <a:r>
              <a:rPr lang="en-US" sz="1400" b="1" kern="0" spc="120" dirty="0">
                <a:solidFill>
                  <a:srgbClr val="146B7A"/>
                </a:solidFill>
                <a:latin typeface="Calibri" pitchFamily="34" charset="0"/>
                <a:ea typeface="Calibri" pitchFamily="34" charset="-122"/>
                <a:cs typeface="Calibri" pitchFamily="34" charset="-120"/>
              </a:rPr>
              <a:t>PROBLEM STATEMENT</a:t>
            </a:r>
            <a:endParaRPr lang="en-US" sz="1400" dirty="0"/>
          </a:p>
        </p:txBody>
      </p:sp>
      <p:sp>
        <p:nvSpPr>
          <p:cNvPr id="7" name="Shape 5"/>
          <p:cNvSpPr/>
          <p:nvPr/>
        </p:nvSpPr>
        <p:spPr>
          <a:xfrm>
            <a:off x="548640" y="1709928"/>
            <a:ext cx="6492240" cy="1417320"/>
          </a:xfrm>
          <a:prstGeom prst="roundRect">
            <a:avLst>
              <a:gd name="adj" fmla="val 3871"/>
            </a:avLst>
          </a:prstGeom>
          <a:solidFill>
            <a:srgbClr val="F7F9FC"/>
          </a:solidFill>
          <a:ln/>
        </p:spPr>
        <p:txBody>
          <a:bodyPr/>
          <a:lstStyle/>
          <a:p>
            <a:endParaRPr lang="en-GB"/>
          </a:p>
        </p:txBody>
      </p:sp>
      <p:sp>
        <p:nvSpPr>
          <p:cNvPr id="8" name="Text 6"/>
          <p:cNvSpPr/>
          <p:nvPr/>
        </p:nvSpPr>
        <p:spPr>
          <a:xfrm>
            <a:off x="777240" y="1709928"/>
            <a:ext cx="6035040" cy="1417320"/>
          </a:xfrm>
          <a:prstGeom prst="rect">
            <a:avLst/>
          </a:prstGeom>
          <a:noFill/>
          <a:ln/>
        </p:spPr>
        <p:txBody>
          <a:bodyPr wrap="square" lIns="0" tIns="0" rIns="0" bIns="0" rtlCol="0" anchor="ctr"/>
          <a:lstStyle/>
          <a:p>
            <a:pPr marL="0" indent="0">
              <a:lnSpc>
                <a:spcPct val="120000"/>
              </a:lnSpc>
              <a:buNone/>
            </a:pPr>
            <a:r>
              <a:rPr lang="en-US" dirty="0">
                <a:solidFill>
                  <a:srgbClr val="313A4D"/>
                </a:solidFill>
                <a:latin typeface="Calibri" pitchFamily="34" charset="0"/>
                <a:ea typeface="Calibri" pitchFamily="34" charset="-122"/>
                <a:cs typeface="Calibri" pitchFamily="34" charset="-120"/>
              </a:rPr>
              <a:t>Flight delays affect millions of passengers each year, causing financial losses and lower customer satisfaction. Predicting delays before departure can help airlines improve scheduling and give passengers more accurate travel information.</a:t>
            </a:r>
            <a:endParaRPr lang="en-US" dirty="0"/>
          </a:p>
        </p:txBody>
      </p:sp>
      <p:sp>
        <p:nvSpPr>
          <p:cNvPr id="9" name="Text 7"/>
          <p:cNvSpPr/>
          <p:nvPr/>
        </p:nvSpPr>
        <p:spPr>
          <a:xfrm>
            <a:off x="548640" y="3337560"/>
            <a:ext cx="6492240" cy="274320"/>
          </a:xfrm>
          <a:prstGeom prst="rect">
            <a:avLst/>
          </a:prstGeom>
          <a:noFill/>
          <a:ln/>
        </p:spPr>
        <p:txBody>
          <a:bodyPr wrap="square" lIns="0" tIns="0" rIns="0" bIns="0" rtlCol="0" anchor="ctr"/>
          <a:lstStyle/>
          <a:p>
            <a:pPr marL="0" indent="0">
              <a:buNone/>
            </a:pPr>
            <a:r>
              <a:rPr lang="en-US" sz="1400" b="1" kern="0" spc="120" dirty="0">
                <a:solidFill>
                  <a:srgbClr val="146B7A"/>
                </a:solidFill>
                <a:latin typeface="Calibri" pitchFamily="34" charset="0"/>
                <a:ea typeface="Calibri" pitchFamily="34" charset="-122"/>
                <a:cs typeface="Calibri" pitchFamily="34" charset="-120"/>
              </a:rPr>
              <a:t>GOALS</a:t>
            </a:r>
            <a:endParaRPr lang="en-US" sz="1400" dirty="0"/>
          </a:p>
        </p:txBody>
      </p:sp>
      <p:sp>
        <p:nvSpPr>
          <p:cNvPr id="10" name="Text 8"/>
          <p:cNvSpPr/>
          <p:nvPr/>
        </p:nvSpPr>
        <p:spPr>
          <a:xfrm>
            <a:off x="548640" y="3630168"/>
            <a:ext cx="6492240" cy="2651760"/>
          </a:xfrm>
          <a:prstGeom prst="rect">
            <a:avLst/>
          </a:prstGeom>
          <a:noFill/>
          <a:ln/>
        </p:spPr>
        <p:txBody>
          <a:bodyPr wrap="square" lIns="0" tIns="0" rIns="0" bIns="0" rtlCol="0" anchor="ctr"/>
          <a:lstStyle/>
          <a:p>
            <a:pPr marL="342900" indent="-342900">
              <a:spcAft>
                <a:spcPts val="800"/>
              </a:spcAft>
              <a:buSzPct val="100000"/>
              <a:buChar char="✦"/>
            </a:pPr>
            <a:r>
              <a:rPr lang="en-US" dirty="0">
                <a:solidFill>
                  <a:srgbClr val="232838"/>
                </a:solidFill>
                <a:latin typeface="Calibri" pitchFamily="34" charset="0"/>
                <a:ea typeface="Calibri" pitchFamily="34" charset="-122"/>
                <a:cs typeface="Calibri" pitchFamily="34" charset="-120"/>
              </a:rPr>
              <a:t>Explore historical flight operations data</a:t>
            </a:r>
            <a:endParaRPr lang="en-US" dirty="0"/>
          </a:p>
          <a:p>
            <a:pPr marL="342900" indent="-342900">
              <a:spcAft>
                <a:spcPts val="800"/>
              </a:spcAft>
              <a:buSzPct val="100000"/>
              <a:buChar char="✦"/>
            </a:pPr>
            <a:r>
              <a:rPr lang="en-US" dirty="0">
                <a:solidFill>
                  <a:srgbClr val="232838"/>
                </a:solidFill>
                <a:latin typeface="Calibri" pitchFamily="34" charset="0"/>
                <a:ea typeface="Calibri" pitchFamily="34" charset="-122"/>
                <a:cs typeface="Calibri" pitchFamily="34" charset="-120"/>
              </a:rPr>
              <a:t>Perform exploratory data analysis (EDA)</a:t>
            </a:r>
            <a:endParaRPr lang="en-US" dirty="0"/>
          </a:p>
          <a:p>
            <a:pPr marL="342900" indent="-342900">
              <a:spcAft>
                <a:spcPts val="800"/>
              </a:spcAft>
              <a:buSzPct val="100000"/>
              <a:buChar char="✦"/>
            </a:pPr>
            <a:r>
              <a:rPr lang="en-US" dirty="0">
                <a:solidFill>
                  <a:srgbClr val="232838"/>
                </a:solidFill>
                <a:latin typeface="Calibri" pitchFamily="34" charset="0"/>
                <a:ea typeface="Calibri" pitchFamily="34" charset="-122"/>
                <a:cs typeface="Calibri" pitchFamily="34" charset="-120"/>
              </a:rPr>
              <a:t>Engineer features while avoiding data leakage</a:t>
            </a:r>
            <a:endParaRPr lang="en-US" dirty="0"/>
          </a:p>
          <a:p>
            <a:pPr marL="342900" indent="-342900">
              <a:spcAft>
                <a:spcPts val="800"/>
              </a:spcAft>
              <a:buSzPct val="100000"/>
              <a:buChar char="✦"/>
            </a:pPr>
            <a:r>
              <a:rPr lang="en-US" dirty="0">
                <a:solidFill>
                  <a:srgbClr val="232838"/>
                </a:solidFill>
                <a:latin typeface="Calibri" pitchFamily="34" charset="0"/>
                <a:ea typeface="Calibri" pitchFamily="34" charset="-122"/>
                <a:cs typeface="Calibri" pitchFamily="34" charset="-120"/>
              </a:rPr>
              <a:t>Build a regression model to predict arrival delay (minutes)</a:t>
            </a:r>
            <a:endParaRPr lang="en-US" dirty="0"/>
          </a:p>
        </p:txBody>
      </p:sp>
      <p:sp>
        <p:nvSpPr>
          <p:cNvPr id="11" name="Shape 9"/>
          <p:cNvSpPr/>
          <p:nvPr/>
        </p:nvSpPr>
        <p:spPr>
          <a:xfrm>
            <a:off x="7360920" y="1417320"/>
            <a:ext cx="4279392" cy="4892040"/>
          </a:xfrm>
          <a:prstGeom prst="roundRect">
            <a:avLst>
              <a:gd name="adj" fmla="val 1709"/>
            </a:avLst>
          </a:prstGeom>
          <a:solidFill>
            <a:srgbClr val="E4F1F2"/>
          </a:solidFill>
          <a:ln/>
          <a:effectLst>
            <a:outerShdw blurRad="101600" dist="38100" dir="5400000" algn="bl" rotWithShape="0">
              <a:srgbClr val="9AA5C4">
                <a:alpha val="22000"/>
              </a:srgbClr>
            </a:outerShdw>
          </a:effectLst>
        </p:spPr>
        <p:txBody>
          <a:bodyPr/>
          <a:lstStyle/>
          <a:p>
            <a:endParaRPr lang="en-GB"/>
          </a:p>
        </p:txBody>
      </p:sp>
      <p:sp>
        <p:nvSpPr>
          <p:cNvPr id="12" name="Text 10"/>
          <p:cNvSpPr/>
          <p:nvPr/>
        </p:nvSpPr>
        <p:spPr>
          <a:xfrm>
            <a:off x="7680960" y="1691640"/>
            <a:ext cx="3639312" cy="274320"/>
          </a:xfrm>
          <a:prstGeom prst="rect">
            <a:avLst/>
          </a:prstGeom>
          <a:noFill/>
          <a:ln/>
        </p:spPr>
        <p:txBody>
          <a:bodyPr wrap="square" lIns="0" tIns="0" rIns="0" bIns="0" rtlCol="0" anchor="ctr"/>
          <a:lstStyle/>
          <a:p>
            <a:pPr marL="0" indent="0">
              <a:buNone/>
            </a:pPr>
            <a:r>
              <a:rPr lang="en-US" sz="1400" b="1" kern="0" spc="120" dirty="0">
                <a:solidFill>
                  <a:srgbClr val="146B7A"/>
                </a:solidFill>
                <a:latin typeface="Calibri" pitchFamily="34" charset="0"/>
                <a:ea typeface="Calibri" pitchFamily="34" charset="-122"/>
                <a:cs typeface="Calibri" pitchFamily="34" charset="-120"/>
              </a:rPr>
              <a:t>DATA SNAPSHOT</a:t>
            </a:r>
            <a:endParaRPr lang="en-US" sz="1400" dirty="0"/>
          </a:p>
        </p:txBody>
      </p:sp>
      <p:sp>
        <p:nvSpPr>
          <p:cNvPr id="13" name="Text 11"/>
          <p:cNvSpPr/>
          <p:nvPr/>
        </p:nvSpPr>
        <p:spPr>
          <a:xfrm>
            <a:off x="7680960" y="2194560"/>
            <a:ext cx="3639312" cy="237744"/>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SOURCE</a:t>
            </a:r>
            <a:endParaRPr lang="en-US" sz="1050" dirty="0"/>
          </a:p>
        </p:txBody>
      </p:sp>
      <p:sp>
        <p:nvSpPr>
          <p:cNvPr id="14" name="Text 12"/>
          <p:cNvSpPr/>
          <p:nvPr/>
        </p:nvSpPr>
        <p:spPr>
          <a:xfrm>
            <a:off x="7680960" y="2414016"/>
            <a:ext cx="3639312" cy="411480"/>
          </a:xfrm>
          <a:prstGeom prst="rect">
            <a:avLst/>
          </a:prstGeom>
          <a:noFill/>
          <a:ln/>
        </p:spPr>
        <p:txBody>
          <a:bodyPr wrap="square" lIns="0" tIns="0" rIns="0" bIns="0" rtlCol="0" anchor="ctr"/>
          <a:lstStyle/>
          <a:p>
            <a:pPr marL="0" indent="0">
              <a:buNone/>
            </a:pPr>
            <a:r>
              <a:rPr lang="en-US" sz="1450" b="1" dirty="0">
                <a:solidFill>
                  <a:srgbClr val="1F2430"/>
                </a:solidFill>
                <a:latin typeface="Cambria" pitchFamily="34" charset="0"/>
                <a:ea typeface="Cambria" pitchFamily="34" charset="-122"/>
                <a:cs typeface="Cambria" pitchFamily="34" charset="-120"/>
              </a:rPr>
              <a:t>Kaggle — Flight Delay Dataset (2024)</a:t>
            </a:r>
            <a:endParaRPr lang="en-US" sz="1450" dirty="0"/>
          </a:p>
        </p:txBody>
      </p:sp>
      <p:sp>
        <p:nvSpPr>
          <p:cNvPr id="15" name="Shape 13"/>
          <p:cNvSpPr/>
          <p:nvPr/>
        </p:nvSpPr>
        <p:spPr>
          <a:xfrm>
            <a:off x="7680960" y="2688336"/>
            <a:ext cx="3639312" cy="0"/>
          </a:xfrm>
          <a:prstGeom prst="line">
            <a:avLst/>
          </a:prstGeom>
          <a:noFill/>
          <a:ln w="6350">
            <a:solidFill>
              <a:srgbClr val="146B7A">
                <a:alpha val="30000"/>
              </a:srgbClr>
            </a:solidFill>
            <a:prstDash val="solid"/>
          </a:ln>
        </p:spPr>
        <p:txBody>
          <a:bodyPr/>
          <a:lstStyle/>
          <a:p>
            <a:endParaRPr lang="en-GB"/>
          </a:p>
        </p:txBody>
      </p:sp>
      <p:sp>
        <p:nvSpPr>
          <p:cNvPr id="16" name="Text 14"/>
          <p:cNvSpPr/>
          <p:nvPr/>
        </p:nvSpPr>
        <p:spPr>
          <a:xfrm>
            <a:off x="7680960" y="2816352"/>
            <a:ext cx="3639312" cy="237744"/>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ROWS</a:t>
            </a:r>
            <a:endParaRPr lang="en-US" sz="1050" dirty="0"/>
          </a:p>
        </p:txBody>
      </p:sp>
      <p:sp>
        <p:nvSpPr>
          <p:cNvPr id="17" name="Text 15"/>
          <p:cNvSpPr/>
          <p:nvPr/>
        </p:nvSpPr>
        <p:spPr>
          <a:xfrm>
            <a:off x="7680960" y="3035808"/>
            <a:ext cx="3639312" cy="411480"/>
          </a:xfrm>
          <a:prstGeom prst="rect">
            <a:avLst/>
          </a:prstGeom>
          <a:noFill/>
          <a:ln/>
        </p:spPr>
        <p:txBody>
          <a:bodyPr wrap="square" lIns="0" tIns="0" rIns="0" bIns="0" rtlCol="0" anchor="ctr"/>
          <a:lstStyle/>
          <a:p>
            <a:pPr marL="0" indent="0">
              <a:buNone/>
            </a:pPr>
            <a:r>
              <a:rPr lang="en-US" sz="2000" b="1" dirty="0">
                <a:solidFill>
                  <a:srgbClr val="1F2430"/>
                </a:solidFill>
                <a:latin typeface="Cambria" pitchFamily="34" charset="0"/>
                <a:ea typeface="Cambria" pitchFamily="34" charset="-122"/>
                <a:cs typeface="Cambria" pitchFamily="34" charset="-120"/>
              </a:rPr>
              <a:t>7M+</a:t>
            </a:r>
            <a:endParaRPr lang="en-US" sz="2000" dirty="0"/>
          </a:p>
        </p:txBody>
      </p:sp>
      <p:sp>
        <p:nvSpPr>
          <p:cNvPr id="18" name="Shape 16"/>
          <p:cNvSpPr/>
          <p:nvPr/>
        </p:nvSpPr>
        <p:spPr>
          <a:xfrm>
            <a:off x="7680960" y="3438144"/>
            <a:ext cx="3639312" cy="0"/>
          </a:xfrm>
          <a:prstGeom prst="line">
            <a:avLst/>
          </a:prstGeom>
          <a:noFill/>
          <a:ln w="6350">
            <a:solidFill>
              <a:srgbClr val="146B7A">
                <a:alpha val="30000"/>
              </a:srgbClr>
            </a:solidFill>
            <a:prstDash val="solid"/>
          </a:ln>
        </p:spPr>
        <p:txBody>
          <a:bodyPr/>
          <a:lstStyle/>
          <a:p>
            <a:endParaRPr lang="en-GB"/>
          </a:p>
        </p:txBody>
      </p:sp>
      <p:sp>
        <p:nvSpPr>
          <p:cNvPr id="19" name="Text 17"/>
          <p:cNvSpPr/>
          <p:nvPr/>
        </p:nvSpPr>
        <p:spPr>
          <a:xfrm>
            <a:off x="7680960" y="3566160"/>
            <a:ext cx="3639312" cy="237744"/>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COLUMNS</a:t>
            </a:r>
            <a:endParaRPr lang="en-US" sz="1050" dirty="0"/>
          </a:p>
        </p:txBody>
      </p:sp>
      <p:sp>
        <p:nvSpPr>
          <p:cNvPr id="20" name="Text 18"/>
          <p:cNvSpPr/>
          <p:nvPr/>
        </p:nvSpPr>
        <p:spPr>
          <a:xfrm>
            <a:off x="7680960" y="3785616"/>
            <a:ext cx="3639312" cy="411480"/>
          </a:xfrm>
          <a:prstGeom prst="rect">
            <a:avLst/>
          </a:prstGeom>
          <a:noFill/>
          <a:ln/>
        </p:spPr>
        <p:txBody>
          <a:bodyPr wrap="square" lIns="0" tIns="0" rIns="0" bIns="0" rtlCol="0" anchor="ctr"/>
          <a:lstStyle/>
          <a:p>
            <a:pPr marL="0" indent="0">
              <a:buNone/>
            </a:pPr>
            <a:r>
              <a:rPr lang="en-US" sz="1450" b="1" dirty="0">
                <a:solidFill>
                  <a:srgbClr val="1F2430"/>
                </a:solidFill>
                <a:latin typeface="Cambria" pitchFamily="34" charset="0"/>
                <a:ea typeface="Cambria" pitchFamily="34" charset="-122"/>
                <a:cs typeface="Cambria" pitchFamily="34" charset="-120"/>
              </a:rPr>
              <a:t>35 features</a:t>
            </a:r>
            <a:endParaRPr lang="en-US" sz="1450" dirty="0"/>
          </a:p>
        </p:txBody>
      </p:sp>
      <p:sp>
        <p:nvSpPr>
          <p:cNvPr id="21" name="Shape 19"/>
          <p:cNvSpPr/>
          <p:nvPr/>
        </p:nvSpPr>
        <p:spPr>
          <a:xfrm>
            <a:off x="7680960" y="4059936"/>
            <a:ext cx="3639312" cy="0"/>
          </a:xfrm>
          <a:prstGeom prst="line">
            <a:avLst/>
          </a:prstGeom>
          <a:noFill/>
          <a:ln w="6350">
            <a:solidFill>
              <a:srgbClr val="146B7A">
                <a:alpha val="30000"/>
              </a:srgbClr>
            </a:solidFill>
            <a:prstDash val="solid"/>
          </a:ln>
        </p:spPr>
        <p:txBody>
          <a:bodyPr/>
          <a:lstStyle/>
          <a:p>
            <a:endParaRPr lang="en-GB"/>
          </a:p>
        </p:txBody>
      </p:sp>
      <p:sp>
        <p:nvSpPr>
          <p:cNvPr id="22" name="Text 20"/>
          <p:cNvSpPr/>
          <p:nvPr/>
        </p:nvSpPr>
        <p:spPr>
          <a:xfrm>
            <a:off x="7680960" y="4187952"/>
            <a:ext cx="3639312" cy="237744"/>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TARGET</a:t>
            </a:r>
            <a:endParaRPr lang="en-US" sz="1050" dirty="0"/>
          </a:p>
        </p:txBody>
      </p:sp>
      <p:sp>
        <p:nvSpPr>
          <p:cNvPr id="23" name="Text 21"/>
          <p:cNvSpPr/>
          <p:nvPr/>
        </p:nvSpPr>
        <p:spPr>
          <a:xfrm>
            <a:off x="7680960" y="4407408"/>
            <a:ext cx="3639312" cy="411480"/>
          </a:xfrm>
          <a:prstGeom prst="rect">
            <a:avLst/>
          </a:prstGeom>
          <a:noFill/>
          <a:ln/>
        </p:spPr>
        <p:txBody>
          <a:bodyPr wrap="square" lIns="0" tIns="0" rIns="0" bIns="0" rtlCol="0" anchor="ctr"/>
          <a:lstStyle/>
          <a:p>
            <a:pPr marL="0" indent="0">
              <a:buNone/>
            </a:pPr>
            <a:r>
              <a:rPr lang="en-US" sz="1450" b="1" dirty="0">
                <a:solidFill>
                  <a:srgbClr val="1F2430"/>
                </a:solidFill>
                <a:latin typeface="Cambria" pitchFamily="34" charset="0"/>
                <a:ea typeface="Cambria" pitchFamily="34" charset="-122"/>
                <a:cs typeface="Cambria" pitchFamily="34" charset="-120"/>
              </a:rPr>
              <a:t>arr_delay (minutes, continuous)</a:t>
            </a:r>
            <a:endParaRPr lang="en-US" sz="1450" dirty="0"/>
          </a:p>
        </p:txBody>
      </p:sp>
      <p:sp>
        <p:nvSpPr>
          <p:cNvPr id="24" name="Shape 22"/>
          <p:cNvSpPr/>
          <p:nvPr/>
        </p:nvSpPr>
        <p:spPr>
          <a:xfrm>
            <a:off x="7680960" y="4681728"/>
            <a:ext cx="3639312" cy="0"/>
          </a:xfrm>
          <a:prstGeom prst="line">
            <a:avLst/>
          </a:prstGeom>
          <a:noFill/>
          <a:ln w="6350">
            <a:solidFill>
              <a:srgbClr val="146B7A">
                <a:alpha val="30000"/>
              </a:srgbClr>
            </a:solidFill>
            <a:prstDash val="solid"/>
          </a:ln>
        </p:spPr>
        <p:txBody>
          <a:bodyPr/>
          <a:lstStyle/>
          <a:p>
            <a:endParaRPr lang="en-GB"/>
          </a:p>
        </p:txBody>
      </p:sp>
      <p:sp>
        <p:nvSpPr>
          <p:cNvPr id="25" name="Text 23"/>
          <p:cNvSpPr/>
          <p:nvPr/>
        </p:nvSpPr>
        <p:spPr>
          <a:xfrm>
            <a:off x="7680960" y="4809744"/>
            <a:ext cx="3639312" cy="237744"/>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TASK</a:t>
            </a:r>
            <a:endParaRPr lang="en-US" sz="1050" dirty="0"/>
          </a:p>
        </p:txBody>
      </p:sp>
      <p:sp>
        <p:nvSpPr>
          <p:cNvPr id="26" name="Text 24"/>
          <p:cNvSpPr/>
          <p:nvPr/>
        </p:nvSpPr>
        <p:spPr>
          <a:xfrm>
            <a:off x="7680960" y="5029200"/>
            <a:ext cx="3639312" cy="411480"/>
          </a:xfrm>
          <a:prstGeom prst="rect">
            <a:avLst/>
          </a:prstGeom>
          <a:noFill/>
          <a:ln/>
        </p:spPr>
        <p:txBody>
          <a:bodyPr wrap="square" lIns="0" tIns="0" rIns="0" bIns="0" rtlCol="0" anchor="ctr"/>
          <a:lstStyle/>
          <a:p>
            <a:pPr marL="0" indent="0">
              <a:buNone/>
            </a:pPr>
            <a:r>
              <a:rPr lang="en-US" sz="1450" b="1" dirty="0">
                <a:solidFill>
                  <a:srgbClr val="1F2430"/>
                </a:solidFill>
                <a:latin typeface="Cambria" pitchFamily="34" charset="0"/>
                <a:ea typeface="Cambria" pitchFamily="34" charset="-122"/>
                <a:cs typeface="Cambria" pitchFamily="34" charset="-120"/>
              </a:rPr>
              <a:t>Regression</a:t>
            </a:r>
            <a:endParaRPr lang="en-US" sz="1450" dirty="0"/>
          </a:p>
        </p:txBody>
      </p:sp>
      <p:sp>
        <p:nvSpPr>
          <p:cNvPr id="27" name="Text 25"/>
          <p:cNvSpPr/>
          <p:nvPr/>
        </p:nvSpPr>
        <p:spPr>
          <a:xfrm>
            <a:off x="457200" y="6519672"/>
            <a:ext cx="73152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Capstone Part 1 · Lightning Talk</a:t>
            </a:r>
            <a:endParaRPr lang="en-US" sz="1000" dirty="0"/>
          </a:p>
        </p:txBody>
      </p:sp>
      <p:sp>
        <p:nvSpPr>
          <p:cNvPr id="28" name="Text 26"/>
          <p:cNvSpPr/>
          <p:nvPr/>
        </p:nvSpPr>
        <p:spPr>
          <a:xfrm>
            <a:off x="11365992" y="6519672"/>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146B7A"/>
          </a:solidFill>
          <a:ln/>
        </p:spPr>
        <p:txBody>
          <a:bodyPr/>
          <a:lstStyle/>
          <a:p>
            <a:endParaRPr lang="en-GB"/>
          </a:p>
        </p:txBody>
      </p:sp>
      <p:sp>
        <p:nvSpPr>
          <p:cNvPr id="3" name="Text 1"/>
          <p:cNvSpPr/>
          <p:nvPr/>
        </p:nvSpPr>
        <p:spPr>
          <a:xfrm>
            <a:off x="457200" y="411480"/>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4" name="Text 2"/>
          <p:cNvSpPr/>
          <p:nvPr/>
        </p:nvSpPr>
        <p:spPr>
          <a:xfrm>
            <a:off x="1170432" y="402336"/>
            <a:ext cx="7315200" cy="274320"/>
          </a:xfrm>
          <a:prstGeom prst="rect">
            <a:avLst/>
          </a:prstGeom>
          <a:noFill/>
          <a:ln/>
        </p:spPr>
        <p:txBody>
          <a:bodyPr wrap="square" lIns="0" tIns="0" rIns="0" bIns="0" rtlCol="0" anchor="ctr"/>
          <a:lstStyle/>
          <a:p>
            <a:pPr marL="0" indent="0">
              <a:buNone/>
            </a:pPr>
            <a:r>
              <a:rPr lang="en-US" sz="1250" b="1" kern="0" spc="150" dirty="0">
                <a:solidFill>
                  <a:srgbClr val="146B7A"/>
                </a:solidFill>
                <a:latin typeface="Calibri" pitchFamily="34" charset="0"/>
                <a:ea typeface="Calibri" pitchFamily="34" charset="-122"/>
                <a:cs typeface="Calibri" pitchFamily="34" charset="-120"/>
              </a:rPr>
              <a:t>TOPIC 03 — EDA FINDINGS</a:t>
            </a:r>
            <a:endParaRPr lang="en-US" sz="1250" dirty="0"/>
          </a:p>
        </p:txBody>
      </p:sp>
      <p:sp>
        <p:nvSpPr>
          <p:cNvPr id="5" name="Text 3"/>
          <p:cNvSpPr/>
          <p:nvPr/>
        </p:nvSpPr>
        <p:spPr>
          <a:xfrm>
            <a:off x="1170432" y="640080"/>
            <a:ext cx="9875520" cy="502920"/>
          </a:xfrm>
          <a:prstGeom prst="rect">
            <a:avLst/>
          </a:prstGeom>
          <a:noFill/>
          <a:ln/>
        </p:spPr>
        <p:txBody>
          <a:bodyPr wrap="square" lIns="0" tIns="0" rIns="0" bIns="0" rtlCol="0" anchor="ctr"/>
          <a:lstStyle/>
          <a:p>
            <a:pPr marL="0" indent="0">
              <a:buNone/>
            </a:pPr>
            <a:r>
              <a:rPr lang="en-US" sz="2600" b="1" dirty="0">
                <a:solidFill>
                  <a:srgbClr val="1F2430"/>
                </a:solidFill>
                <a:latin typeface="Cambria" pitchFamily="34" charset="0"/>
                <a:ea typeface="Cambria" pitchFamily="34" charset="-122"/>
                <a:cs typeface="Cambria" pitchFamily="34" charset="-120"/>
              </a:rPr>
              <a:t>Flight Delay Prediction</a:t>
            </a:r>
            <a:endParaRPr lang="en-US" sz="2600" dirty="0"/>
          </a:p>
        </p:txBody>
      </p:sp>
      <p:sp>
        <p:nvSpPr>
          <p:cNvPr id="6" name="Shape 4"/>
          <p:cNvSpPr/>
          <p:nvPr/>
        </p:nvSpPr>
        <p:spPr>
          <a:xfrm>
            <a:off x="548640" y="1417320"/>
            <a:ext cx="3514344" cy="1417320"/>
          </a:xfrm>
          <a:prstGeom prst="roundRect">
            <a:avLst>
              <a:gd name="adj" fmla="val 5161"/>
            </a:avLst>
          </a:prstGeom>
          <a:solidFill>
            <a:srgbClr val="E4F1F2"/>
          </a:solidFill>
          <a:ln/>
        </p:spPr>
        <p:txBody>
          <a:bodyPr/>
          <a:lstStyle/>
          <a:p>
            <a:endParaRPr lang="en-GB"/>
          </a:p>
        </p:txBody>
      </p:sp>
      <p:sp>
        <p:nvSpPr>
          <p:cNvPr id="7" name="Text 5"/>
          <p:cNvSpPr/>
          <p:nvPr/>
        </p:nvSpPr>
        <p:spPr>
          <a:xfrm>
            <a:off x="777240" y="1581912"/>
            <a:ext cx="3057144" cy="274320"/>
          </a:xfrm>
          <a:prstGeom prst="rect">
            <a:avLst/>
          </a:prstGeom>
          <a:noFill/>
          <a:ln/>
        </p:spPr>
        <p:txBody>
          <a:bodyPr wrap="square" lIns="0" tIns="0" rIns="0" bIns="0" rtlCol="0" anchor="ctr"/>
          <a:lstStyle/>
          <a:p>
            <a:pPr marL="0" indent="0">
              <a:buNone/>
            </a:pPr>
            <a:r>
              <a:rPr lang="en-US" sz="1200" b="1" kern="0" spc="100" dirty="0">
                <a:solidFill>
                  <a:srgbClr val="146B7A"/>
                </a:solidFill>
                <a:latin typeface="Calibri" pitchFamily="34" charset="0"/>
                <a:ea typeface="Calibri" pitchFamily="34" charset="-122"/>
                <a:cs typeface="Calibri" pitchFamily="34" charset="-120"/>
              </a:rPr>
              <a:t>PROBLEM TYPE</a:t>
            </a:r>
            <a:endParaRPr lang="en-US" sz="1200" dirty="0"/>
          </a:p>
        </p:txBody>
      </p:sp>
      <p:sp>
        <p:nvSpPr>
          <p:cNvPr id="8" name="Text 6"/>
          <p:cNvSpPr/>
          <p:nvPr/>
        </p:nvSpPr>
        <p:spPr>
          <a:xfrm>
            <a:off x="777240" y="1874520"/>
            <a:ext cx="3057144" cy="594360"/>
          </a:xfrm>
          <a:prstGeom prst="rect">
            <a:avLst/>
          </a:prstGeom>
          <a:noFill/>
          <a:ln/>
        </p:spPr>
        <p:txBody>
          <a:bodyPr wrap="square" lIns="0" tIns="0" rIns="0" bIns="0" rtlCol="0" anchor="ctr"/>
          <a:lstStyle/>
          <a:p>
            <a:pPr marL="0" indent="0">
              <a:buNone/>
            </a:pPr>
            <a:r>
              <a:rPr lang="en-US" sz="2600" b="1" dirty="0">
                <a:solidFill>
                  <a:srgbClr val="1F2430"/>
                </a:solidFill>
                <a:latin typeface="Cambria" pitchFamily="34" charset="0"/>
                <a:ea typeface="Cambria" pitchFamily="34" charset="-122"/>
                <a:cs typeface="Cambria" pitchFamily="34" charset="-120"/>
              </a:rPr>
              <a:t>Regression</a:t>
            </a:r>
            <a:endParaRPr lang="en-US" sz="2600" dirty="0"/>
          </a:p>
        </p:txBody>
      </p:sp>
      <p:sp>
        <p:nvSpPr>
          <p:cNvPr id="9" name="Text 7"/>
          <p:cNvSpPr/>
          <p:nvPr/>
        </p:nvSpPr>
        <p:spPr>
          <a:xfrm>
            <a:off x="777240" y="2459736"/>
            <a:ext cx="3057144"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target arr_delay is continuous, right-skewed</a:t>
            </a:r>
            <a:endParaRPr lang="en-US" sz="1400" dirty="0"/>
          </a:p>
        </p:txBody>
      </p:sp>
      <p:sp>
        <p:nvSpPr>
          <p:cNvPr id="10" name="Shape 8"/>
          <p:cNvSpPr/>
          <p:nvPr/>
        </p:nvSpPr>
        <p:spPr>
          <a:xfrm>
            <a:off x="4337304" y="1417320"/>
            <a:ext cx="3514344" cy="1417320"/>
          </a:xfrm>
          <a:prstGeom prst="roundRect">
            <a:avLst>
              <a:gd name="adj" fmla="val 5161"/>
            </a:avLst>
          </a:prstGeom>
          <a:solidFill>
            <a:srgbClr val="E4F1F2"/>
          </a:solidFill>
          <a:ln/>
        </p:spPr>
        <p:txBody>
          <a:bodyPr/>
          <a:lstStyle/>
          <a:p>
            <a:endParaRPr lang="en-GB"/>
          </a:p>
        </p:txBody>
      </p:sp>
      <p:sp>
        <p:nvSpPr>
          <p:cNvPr id="11" name="Text 9"/>
          <p:cNvSpPr/>
          <p:nvPr/>
        </p:nvSpPr>
        <p:spPr>
          <a:xfrm>
            <a:off x="4565904" y="1581912"/>
            <a:ext cx="3057144" cy="274320"/>
          </a:xfrm>
          <a:prstGeom prst="rect">
            <a:avLst/>
          </a:prstGeom>
          <a:noFill/>
          <a:ln/>
        </p:spPr>
        <p:txBody>
          <a:bodyPr wrap="square" lIns="0" tIns="0" rIns="0" bIns="0" rtlCol="0" anchor="ctr"/>
          <a:lstStyle/>
          <a:p>
            <a:pPr marL="0" indent="0">
              <a:buNone/>
            </a:pPr>
            <a:r>
              <a:rPr lang="en-US" sz="1200" b="1" kern="0" spc="100" dirty="0">
                <a:solidFill>
                  <a:srgbClr val="146B7A"/>
                </a:solidFill>
                <a:latin typeface="Calibri" pitchFamily="34" charset="0"/>
                <a:ea typeface="Calibri" pitchFamily="34" charset="-122"/>
                <a:cs typeface="Calibri" pitchFamily="34" charset="-120"/>
              </a:rPr>
              <a:t>MISSING VALUES</a:t>
            </a:r>
            <a:endParaRPr lang="en-US" sz="1200" dirty="0"/>
          </a:p>
        </p:txBody>
      </p:sp>
      <p:sp>
        <p:nvSpPr>
          <p:cNvPr id="12" name="Text 10"/>
          <p:cNvSpPr/>
          <p:nvPr/>
        </p:nvSpPr>
        <p:spPr>
          <a:xfrm>
            <a:off x="4565904" y="1874520"/>
            <a:ext cx="3057144" cy="594360"/>
          </a:xfrm>
          <a:prstGeom prst="rect">
            <a:avLst/>
          </a:prstGeom>
          <a:noFill/>
          <a:ln/>
        </p:spPr>
        <p:txBody>
          <a:bodyPr wrap="square" lIns="0" tIns="0" rIns="0" bIns="0" rtlCol="0" anchor="ctr"/>
          <a:lstStyle/>
          <a:p>
            <a:pPr marL="0" indent="0">
              <a:buNone/>
            </a:pPr>
            <a:r>
              <a:rPr lang="en-US" sz="2600" b="1" dirty="0">
                <a:solidFill>
                  <a:srgbClr val="1F2430"/>
                </a:solidFill>
                <a:latin typeface="Cambria" pitchFamily="34" charset="0"/>
                <a:ea typeface="Cambria" pitchFamily="34" charset="-122"/>
                <a:cs typeface="Cambria" pitchFamily="34" charset="-120"/>
              </a:rPr>
              <a:t>Several cols</a:t>
            </a:r>
            <a:endParaRPr lang="en-US" sz="2600" dirty="0"/>
          </a:p>
        </p:txBody>
      </p:sp>
      <p:sp>
        <p:nvSpPr>
          <p:cNvPr id="13" name="Text 11"/>
          <p:cNvSpPr/>
          <p:nvPr/>
        </p:nvSpPr>
        <p:spPr>
          <a:xfrm>
            <a:off x="4565904" y="2459736"/>
            <a:ext cx="3057144"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mostly cancelled / diverted flights</a:t>
            </a:r>
            <a:endParaRPr lang="en-US" sz="1400" dirty="0"/>
          </a:p>
        </p:txBody>
      </p:sp>
      <p:sp>
        <p:nvSpPr>
          <p:cNvPr id="14" name="Shape 12"/>
          <p:cNvSpPr/>
          <p:nvPr/>
        </p:nvSpPr>
        <p:spPr>
          <a:xfrm>
            <a:off x="8125968" y="1417320"/>
            <a:ext cx="3514344" cy="1417320"/>
          </a:xfrm>
          <a:prstGeom prst="roundRect">
            <a:avLst>
              <a:gd name="adj" fmla="val 5161"/>
            </a:avLst>
          </a:prstGeom>
          <a:solidFill>
            <a:srgbClr val="E4F1F2"/>
          </a:solidFill>
          <a:ln/>
        </p:spPr>
        <p:txBody>
          <a:bodyPr/>
          <a:lstStyle/>
          <a:p>
            <a:endParaRPr lang="en-GB"/>
          </a:p>
        </p:txBody>
      </p:sp>
      <p:sp>
        <p:nvSpPr>
          <p:cNvPr id="15" name="Text 13"/>
          <p:cNvSpPr/>
          <p:nvPr/>
        </p:nvSpPr>
        <p:spPr>
          <a:xfrm>
            <a:off x="8354568" y="1581912"/>
            <a:ext cx="3057144" cy="274320"/>
          </a:xfrm>
          <a:prstGeom prst="rect">
            <a:avLst/>
          </a:prstGeom>
          <a:noFill/>
          <a:ln/>
        </p:spPr>
        <p:txBody>
          <a:bodyPr wrap="square" lIns="0" tIns="0" rIns="0" bIns="0" rtlCol="0" anchor="ctr"/>
          <a:lstStyle/>
          <a:p>
            <a:pPr marL="0" indent="0">
              <a:buNone/>
            </a:pPr>
            <a:r>
              <a:rPr lang="en-US" sz="1200" b="1" kern="0" spc="100" dirty="0">
                <a:solidFill>
                  <a:srgbClr val="146B7A"/>
                </a:solidFill>
                <a:latin typeface="Calibri" pitchFamily="34" charset="0"/>
                <a:ea typeface="Calibri" pitchFamily="34" charset="-122"/>
                <a:cs typeface="Calibri" pitchFamily="34" charset="-120"/>
              </a:rPr>
              <a:t>FEATURE MIX</a:t>
            </a:r>
            <a:endParaRPr lang="en-US" sz="1200" dirty="0"/>
          </a:p>
        </p:txBody>
      </p:sp>
      <p:sp>
        <p:nvSpPr>
          <p:cNvPr id="16" name="Text 14"/>
          <p:cNvSpPr/>
          <p:nvPr/>
        </p:nvSpPr>
        <p:spPr>
          <a:xfrm>
            <a:off x="8354568" y="1874520"/>
            <a:ext cx="3057144" cy="594360"/>
          </a:xfrm>
          <a:prstGeom prst="rect">
            <a:avLst/>
          </a:prstGeom>
          <a:noFill/>
          <a:ln/>
        </p:spPr>
        <p:txBody>
          <a:bodyPr wrap="square" lIns="0" tIns="0" rIns="0" bIns="0" rtlCol="0" anchor="ctr"/>
          <a:lstStyle/>
          <a:p>
            <a:pPr marL="0" indent="0">
              <a:buNone/>
            </a:pPr>
            <a:r>
              <a:rPr lang="en-US" sz="2200" b="1" dirty="0">
                <a:solidFill>
                  <a:srgbClr val="1F2430"/>
                </a:solidFill>
                <a:latin typeface="Cambria" pitchFamily="34" charset="0"/>
                <a:ea typeface="Cambria" pitchFamily="34" charset="-122"/>
                <a:cs typeface="Cambria" pitchFamily="34" charset="-120"/>
              </a:rPr>
              <a:t>9 cat  /  26 num</a:t>
            </a:r>
            <a:endParaRPr lang="en-US" sz="2200" dirty="0"/>
          </a:p>
        </p:txBody>
      </p:sp>
      <p:sp>
        <p:nvSpPr>
          <p:cNvPr id="17" name="Text 15"/>
          <p:cNvSpPr/>
          <p:nvPr/>
        </p:nvSpPr>
        <p:spPr>
          <a:xfrm>
            <a:off x="8354568" y="2459736"/>
            <a:ext cx="3057144"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categorical vs. numerical</a:t>
            </a:r>
            <a:endParaRPr lang="en-US" sz="1400" dirty="0"/>
          </a:p>
        </p:txBody>
      </p:sp>
      <p:sp>
        <p:nvSpPr>
          <p:cNvPr id="18" name="Shape 16"/>
          <p:cNvSpPr/>
          <p:nvPr/>
        </p:nvSpPr>
        <p:spPr>
          <a:xfrm>
            <a:off x="548640" y="3200400"/>
            <a:ext cx="5440680" cy="3063240"/>
          </a:xfrm>
          <a:prstGeom prst="roundRect">
            <a:avLst>
              <a:gd name="adj" fmla="val 2388"/>
            </a:avLst>
          </a:prstGeom>
          <a:solidFill>
            <a:srgbClr val="F7F9FC"/>
          </a:solidFill>
          <a:ln/>
        </p:spPr>
        <p:txBody>
          <a:bodyPr/>
          <a:lstStyle/>
          <a:p>
            <a:endParaRPr lang="en-GB" sz="1200"/>
          </a:p>
        </p:txBody>
      </p:sp>
      <p:sp>
        <p:nvSpPr>
          <p:cNvPr id="19" name="Text 17"/>
          <p:cNvSpPr/>
          <p:nvPr/>
        </p:nvSpPr>
        <p:spPr>
          <a:xfrm>
            <a:off x="777240" y="3429000"/>
            <a:ext cx="4983480" cy="274320"/>
          </a:xfrm>
          <a:prstGeom prst="rect">
            <a:avLst/>
          </a:prstGeom>
          <a:noFill/>
          <a:ln/>
        </p:spPr>
        <p:txBody>
          <a:bodyPr wrap="square" lIns="0" tIns="0" rIns="0" bIns="0" rtlCol="0" anchor="ctr"/>
          <a:lstStyle/>
          <a:p>
            <a:pPr marL="0" indent="0">
              <a:buNone/>
            </a:pPr>
            <a:r>
              <a:rPr lang="en-US" sz="1200" b="1" kern="0" spc="100" dirty="0">
                <a:solidFill>
                  <a:srgbClr val="146B7A"/>
                </a:solidFill>
                <a:latin typeface="Calibri" pitchFamily="34" charset="0"/>
                <a:ea typeface="Calibri" pitchFamily="34" charset="-122"/>
                <a:cs typeface="Calibri" pitchFamily="34" charset="-120"/>
              </a:rPr>
              <a:t>STRONGEST CORRELATIONS WITH TARGET</a:t>
            </a:r>
            <a:endParaRPr lang="en-US" sz="1200" dirty="0"/>
          </a:p>
        </p:txBody>
      </p:sp>
      <p:sp>
        <p:nvSpPr>
          <p:cNvPr id="20" name="Text 18"/>
          <p:cNvSpPr/>
          <p:nvPr/>
        </p:nvSpPr>
        <p:spPr>
          <a:xfrm>
            <a:off x="777240" y="3858768"/>
            <a:ext cx="2377440" cy="365760"/>
          </a:xfrm>
          <a:prstGeom prst="rect">
            <a:avLst/>
          </a:prstGeom>
          <a:noFill/>
          <a:ln/>
        </p:spPr>
        <p:txBody>
          <a:bodyPr wrap="square" lIns="0" tIns="0" rIns="0" bIns="0" rtlCol="0" anchor="ctr"/>
          <a:lstStyle/>
          <a:p>
            <a:pPr marL="0" indent="0">
              <a:buNone/>
            </a:pPr>
            <a:r>
              <a:rPr lang="en-US" sz="1250" b="1" dirty="0">
                <a:solidFill>
                  <a:srgbClr val="232838"/>
                </a:solidFill>
                <a:latin typeface="Calibri" pitchFamily="34" charset="0"/>
                <a:ea typeface="Calibri" pitchFamily="34" charset="-122"/>
                <a:cs typeface="Calibri" pitchFamily="34" charset="-120"/>
              </a:rPr>
              <a:t>dep_delay</a:t>
            </a:r>
            <a:endParaRPr lang="en-US" sz="1250" dirty="0"/>
          </a:p>
        </p:txBody>
      </p:sp>
      <p:sp>
        <p:nvSpPr>
          <p:cNvPr id="21" name="Shape 19"/>
          <p:cNvSpPr/>
          <p:nvPr/>
        </p:nvSpPr>
        <p:spPr>
          <a:xfrm>
            <a:off x="3246120" y="3941064"/>
            <a:ext cx="2011680" cy="182880"/>
          </a:xfrm>
          <a:prstGeom prst="roundRect">
            <a:avLst>
              <a:gd name="adj" fmla="val 20000"/>
            </a:avLst>
          </a:prstGeom>
          <a:solidFill>
            <a:srgbClr val="E4E8F2"/>
          </a:solidFill>
          <a:ln/>
        </p:spPr>
        <p:txBody>
          <a:bodyPr/>
          <a:lstStyle/>
          <a:p>
            <a:endParaRPr lang="en-GB"/>
          </a:p>
        </p:txBody>
      </p:sp>
      <p:sp>
        <p:nvSpPr>
          <p:cNvPr id="22" name="Shape 20"/>
          <p:cNvSpPr/>
          <p:nvPr/>
        </p:nvSpPr>
        <p:spPr>
          <a:xfrm>
            <a:off x="3246120" y="3941064"/>
            <a:ext cx="1951330" cy="182880"/>
          </a:xfrm>
          <a:prstGeom prst="roundRect">
            <a:avLst>
              <a:gd name="adj" fmla="val 20000"/>
            </a:avLst>
          </a:prstGeom>
          <a:solidFill>
            <a:srgbClr val="146B7A"/>
          </a:solidFill>
          <a:ln/>
        </p:spPr>
        <p:txBody>
          <a:bodyPr/>
          <a:lstStyle/>
          <a:p>
            <a:endParaRPr lang="en-GB"/>
          </a:p>
        </p:txBody>
      </p:sp>
      <p:sp>
        <p:nvSpPr>
          <p:cNvPr id="23" name="Text 21"/>
          <p:cNvSpPr/>
          <p:nvPr/>
        </p:nvSpPr>
        <p:spPr>
          <a:xfrm>
            <a:off x="5330952" y="3858768"/>
            <a:ext cx="457200" cy="3657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0.97</a:t>
            </a:r>
            <a:endParaRPr lang="en-US" sz="1150" dirty="0"/>
          </a:p>
        </p:txBody>
      </p:sp>
      <p:sp>
        <p:nvSpPr>
          <p:cNvPr id="24" name="Text 22"/>
          <p:cNvSpPr/>
          <p:nvPr/>
        </p:nvSpPr>
        <p:spPr>
          <a:xfrm>
            <a:off x="777240" y="4334256"/>
            <a:ext cx="2377440" cy="365760"/>
          </a:xfrm>
          <a:prstGeom prst="rect">
            <a:avLst/>
          </a:prstGeom>
          <a:noFill/>
          <a:ln/>
        </p:spPr>
        <p:txBody>
          <a:bodyPr wrap="square" lIns="0" tIns="0" rIns="0" bIns="0" rtlCol="0" anchor="ctr"/>
          <a:lstStyle/>
          <a:p>
            <a:pPr marL="0" indent="0">
              <a:buNone/>
            </a:pPr>
            <a:r>
              <a:rPr lang="en-US" sz="1250" b="1" dirty="0">
                <a:solidFill>
                  <a:srgbClr val="232838"/>
                </a:solidFill>
                <a:latin typeface="Calibri" pitchFamily="34" charset="0"/>
                <a:ea typeface="Calibri" pitchFamily="34" charset="-122"/>
                <a:cs typeface="Calibri" pitchFamily="34" charset="-120"/>
              </a:rPr>
              <a:t>carrier_delay</a:t>
            </a:r>
            <a:endParaRPr lang="en-US" sz="1250" dirty="0"/>
          </a:p>
        </p:txBody>
      </p:sp>
      <p:sp>
        <p:nvSpPr>
          <p:cNvPr id="25" name="Shape 23"/>
          <p:cNvSpPr/>
          <p:nvPr/>
        </p:nvSpPr>
        <p:spPr>
          <a:xfrm>
            <a:off x="3246120" y="4416552"/>
            <a:ext cx="2011680" cy="182880"/>
          </a:xfrm>
          <a:prstGeom prst="roundRect">
            <a:avLst>
              <a:gd name="adj" fmla="val 20000"/>
            </a:avLst>
          </a:prstGeom>
          <a:solidFill>
            <a:srgbClr val="E4E8F2"/>
          </a:solidFill>
          <a:ln/>
        </p:spPr>
        <p:txBody>
          <a:bodyPr/>
          <a:lstStyle/>
          <a:p>
            <a:endParaRPr lang="en-GB"/>
          </a:p>
        </p:txBody>
      </p:sp>
      <p:sp>
        <p:nvSpPr>
          <p:cNvPr id="26" name="Shape 24"/>
          <p:cNvSpPr/>
          <p:nvPr/>
        </p:nvSpPr>
        <p:spPr>
          <a:xfrm>
            <a:off x="3246120" y="4416552"/>
            <a:ext cx="1367942" cy="182880"/>
          </a:xfrm>
          <a:prstGeom prst="roundRect">
            <a:avLst>
              <a:gd name="adj" fmla="val 20000"/>
            </a:avLst>
          </a:prstGeom>
          <a:solidFill>
            <a:srgbClr val="146B7A"/>
          </a:solidFill>
          <a:ln/>
        </p:spPr>
        <p:txBody>
          <a:bodyPr/>
          <a:lstStyle/>
          <a:p>
            <a:endParaRPr lang="en-GB"/>
          </a:p>
        </p:txBody>
      </p:sp>
      <p:sp>
        <p:nvSpPr>
          <p:cNvPr id="27" name="Text 25"/>
          <p:cNvSpPr/>
          <p:nvPr/>
        </p:nvSpPr>
        <p:spPr>
          <a:xfrm>
            <a:off x="5330952" y="4334256"/>
            <a:ext cx="457200" cy="3657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0.68</a:t>
            </a:r>
            <a:endParaRPr lang="en-US" sz="1150" dirty="0"/>
          </a:p>
        </p:txBody>
      </p:sp>
      <p:sp>
        <p:nvSpPr>
          <p:cNvPr id="28" name="Text 26"/>
          <p:cNvSpPr/>
          <p:nvPr/>
        </p:nvSpPr>
        <p:spPr>
          <a:xfrm>
            <a:off x="777240" y="4809744"/>
            <a:ext cx="2377440" cy="365760"/>
          </a:xfrm>
          <a:prstGeom prst="rect">
            <a:avLst/>
          </a:prstGeom>
          <a:noFill/>
          <a:ln/>
        </p:spPr>
        <p:txBody>
          <a:bodyPr wrap="square" lIns="0" tIns="0" rIns="0" bIns="0" rtlCol="0" anchor="ctr"/>
          <a:lstStyle/>
          <a:p>
            <a:pPr marL="0" indent="0">
              <a:buNone/>
            </a:pPr>
            <a:r>
              <a:rPr lang="en-US" sz="1250" b="1" dirty="0">
                <a:solidFill>
                  <a:srgbClr val="232838"/>
                </a:solidFill>
                <a:latin typeface="Calibri" pitchFamily="34" charset="0"/>
                <a:ea typeface="Calibri" pitchFamily="34" charset="-122"/>
                <a:cs typeface="Calibri" pitchFamily="34" charset="-120"/>
              </a:rPr>
              <a:t>late_aircraft_delay</a:t>
            </a:r>
            <a:endParaRPr lang="en-US" sz="1250" dirty="0"/>
          </a:p>
        </p:txBody>
      </p:sp>
      <p:sp>
        <p:nvSpPr>
          <p:cNvPr id="29" name="Shape 27"/>
          <p:cNvSpPr/>
          <p:nvPr/>
        </p:nvSpPr>
        <p:spPr>
          <a:xfrm>
            <a:off x="3246120" y="4892040"/>
            <a:ext cx="2011680" cy="182880"/>
          </a:xfrm>
          <a:prstGeom prst="roundRect">
            <a:avLst>
              <a:gd name="adj" fmla="val 20000"/>
            </a:avLst>
          </a:prstGeom>
          <a:solidFill>
            <a:srgbClr val="E4E8F2"/>
          </a:solidFill>
          <a:ln/>
        </p:spPr>
        <p:txBody>
          <a:bodyPr/>
          <a:lstStyle/>
          <a:p>
            <a:endParaRPr lang="en-GB"/>
          </a:p>
        </p:txBody>
      </p:sp>
      <p:sp>
        <p:nvSpPr>
          <p:cNvPr id="30" name="Shape 28"/>
          <p:cNvSpPr/>
          <p:nvPr/>
        </p:nvSpPr>
        <p:spPr>
          <a:xfrm>
            <a:off x="3246120" y="4892040"/>
            <a:ext cx="1247242" cy="182880"/>
          </a:xfrm>
          <a:prstGeom prst="roundRect">
            <a:avLst>
              <a:gd name="adj" fmla="val 20000"/>
            </a:avLst>
          </a:prstGeom>
          <a:solidFill>
            <a:srgbClr val="146B7A"/>
          </a:solidFill>
          <a:ln/>
        </p:spPr>
        <p:txBody>
          <a:bodyPr/>
          <a:lstStyle/>
          <a:p>
            <a:endParaRPr lang="en-GB"/>
          </a:p>
        </p:txBody>
      </p:sp>
      <p:sp>
        <p:nvSpPr>
          <p:cNvPr id="31" name="Text 29"/>
          <p:cNvSpPr/>
          <p:nvPr/>
        </p:nvSpPr>
        <p:spPr>
          <a:xfrm>
            <a:off x="5330952" y="4809744"/>
            <a:ext cx="457200" cy="36576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0.62</a:t>
            </a:r>
            <a:endParaRPr lang="en-US" sz="1150" dirty="0"/>
          </a:p>
        </p:txBody>
      </p:sp>
      <p:sp>
        <p:nvSpPr>
          <p:cNvPr id="32" name="Shape 30"/>
          <p:cNvSpPr/>
          <p:nvPr/>
        </p:nvSpPr>
        <p:spPr>
          <a:xfrm>
            <a:off x="777240" y="5330952"/>
            <a:ext cx="4983480" cy="0"/>
          </a:xfrm>
          <a:prstGeom prst="line">
            <a:avLst/>
          </a:prstGeom>
          <a:noFill/>
          <a:ln w="6350">
            <a:solidFill>
              <a:srgbClr val="146B7A">
                <a:alpha val="30000"/>
              </a:srgbClr>
            </a:solidFill>
            <a:prstDash val="solid"/>
          </a:ln>
        </p:spPr>
        <p:txBody>
          <a:bodyPr/>
          <a:lstStyle/>
          <a:p>
            <a:endParaRPr lang="en-GB"/>
          </a:p>
        </p:txBody>
      </p:sp>
      <p:sp>
        <p:nvSpPr>
          <p:cNvPr id="33" name="Text 31"/>
          <p:cNvSpPr/>
          <p:nvPr/>
        </p:nvSpPr>
        <p:spPr>
          <a:xfrm>
            <a:off x="777240" y="5468112"/>
            <a:ext cx="4983480" cy="777240"/>
          </a:xfrm>
          <a:prstGeom prst="rect">
            <a:avLst/>
          </a:prstGeom>
          <a:noFill/>
          <a:ln/>
        </p:spPr>
        <p:txBody>
          <a:bodyPr wrap="square" lIns="0" tIns="0" rIns="0" bIns="0" rtlCol="0" anchor="ctr"/>
          <a:lstStyle/>
          <a:p>
            <a:pPr marL="0" indent="0">
              <a:lnSpc>
                <a:spcPct val="120000"/>
              </a:lnSpc>
              <a:buNone/>
            </a:pPr>
            <a:r>
              <a:rPr lang="en-US" sz="1400" i="1" dirty="0">
                <a:solidFill>
                  <a:srgbClr val="3D4457"/>
                </a:solidFill>
                <a:latin typeface="Calibri" pitchFamily="34" charset="0"/>
                <a:ea typeface="Calibri" pitchFamily="34" charset="-122"/>
                <a:cs typeface="Calibri" pitchFamily="34" charset="-120"/>
              </a:rPr>
              <a:t>⚠ Potential data leakage identified — fields like actual elapsed/arrival times will be reviewed and addressed before model training.</a:t>
            </a:r>
            <a:endParaRPr lang="en-US" sz="1400" dirty="0"/>
          </a:p>
        </p:txBody>
      </p:sp>
      <p:sp>
        <p:nvSpPr>
          <p:cNvPr id="34" name="Shape 32"/>
          <p:cNvSpPr/>
          <p:nvPr/>
        </p:nvSpPr>
        <p:spPr>
          <a:xfrm>
            <a:off x="6263640" y="3200400"/>
            <a:ext cx="5440680" cy="3063240"/>
          </a:xfrm>
          <a:prstGeom prst="roundRect">
            <a:avLst>
              <a:gd name="adj" fmla="val 2388"/>
            </a:avLst>
          </a:prstGeom>
          <a:solidFill>
            <a:srgbClr val="E4F1F2"/>
          </a:solidFill>
          <a:ln/>
        </p:spPr>
        <p:txBody>
          <a:bodyPr/>
          <a:lstStyle/>
          <a:p>
            <a:endParaRPr lang="en-GB" sz="1200"/>
          </a:p>
        </p:txBody>
      </p:sp>
      <p:sp>
        <p:nvSpPr>
          <p:cNvPr id="35" name="Text 33"/>
          <p:cNvSpPr/>
          <p:nvPr/>
        </p:nvSpPr>
        <p:spPr>
          <a:xfrm>
            <a:off x="6492240" y="3429000"/>
            <a:ext cx="4983480" cy="274320"/>
          </a:xfrm>
          <a:prstGeom prst="rect">
            <a:avLst/>
          </a:prstGeom>
          <a:noFill/>
          <a:ln/>
        </p:spPr>
        <p:txBody>
          <a:bodyPr wrap="square" lIns="0" tIns="0" rIns="0" bIns="0" rtlCol="0" anchor="ctr"/>
          <a:lstStyle/>
          <a:p>
            <a:pPr marL="0" indent="0">
              <a:buNone/>
            </a:pPr>
            <a:r>
              <a:rPr lang="en-US" sz="1200" b="1" kern="0" spc="100" dirty="0">
                <a:solidFill>
                  <a:srgbClr val="146B7A"/>
                </a:solidFill>
                <a:latin typeface="Calibri" pitchFamily="34" charset="0"/>
                <a:ea typeface="Calibri" pitchFamily="34" charset="-122"/>
                <a:cs typeface="Calibri" pitchFamily="34" charset="-120"/>
              </a:rPr>
              <a:t>OUTLIERS</a:t>
            </a:r>
            <a:endParaRPr lang="en-US" sz="1200" dirty="0"/>
          </a:p>
        </p:txBody>
      </p:sp>
      <p:sp>
        <p:nvSpPr>
          <p:cNvPr id="36" name="Text 34"/>
          <p:cNvSpPr/>
          <p:nvPr/>
        </p:nvSpPr>
        <p:spPr>
          <a:xfrm>
            <a:off x="6492240" y="3767328"/>
            <a:ext cx="4983480" cy="640080"/>
          </a:xfrm>
          <a:prstGeom prst="rect">
            <a:avLst/>
          </a:prstGeom>
          <a:noFill/>
          <a:ln/>
        </p:spPr>
        <p:txBody>
          <a:bodyPr wrap="square" lIns="0" tIns="0" rIns="0" bIns="0" rtlCol="0" anchor="ctr"/>
          <a:lstStyle/>
          <a:p>
            <a:pPr marL="0" indent="0">
              <a:lnSpc>
                <a:spcPct val="115000"/>
              </a:lnSpc>
              <a:buNone/>
            </a:pPr>
            <a:r>
              <a:rPr lang="en-US" sz="1450" b="1" dirty="0">
                <a:solidFill>
                  <a:srgbClr val="1F2430"/>
                </a:solidFill>
                <a:latin typeface="Cambria" pitchFamily="34" charset="0"/>
                <a:ea typeface="Cambria" pitchFamily="34" charset="-122"/>
                <a:cs typeface="Cambria" pitchFamily="34" charset="-120"/>
              </a:rPr>
              <a:t>Delay &amp; distance fields run long-tailed</a:t>
            </a:r>
            <a:endParaRPr lang="en-US" sz="1450" dirty="0"/>
          </a:p>
        </p:txBody>
      </p:sp>
      <p:sp>
        <p:nvSpPr>
          <p:cNvPr id="37" name="Text 35"/>
          <p:cNvSpPr/>
          <p:nvPr/>
        </p:nvSpPr>
        <p:spPr>
          <a:xfrm>
            <a:off x="6505042" y="4106962"/>
            <a:ext cx="4983480" cy="1554480"/>
          </a:xfrm>
          <a:prstGeom prst="rect">
            <a:avLst/>
          </a:prstGeom>
          <a:noFill/>
          <a:ln/>
        </p:spPr>
        <p:txBody>
          <a:bodyPr wrap="square" lIns="0" tIns="0" rIns="0" bIns="0" rtlCol="0" anchor="ctr"/>
          <a:lstStyle/>
          <a:p>
            <a:pPr marL="0" indent="0">
              <a:lnSpc>
                <a:spcPct val="125000"/>
              </a:lnSpc>
              <a:buNone/>
            </a:pPr>
            <a:r>
              <a:rPr lang="en-US" sz="1400" dirty="0">
                <a:solidFill>
                  <a:srgbClr val="3D4457"/>
                </a:solidFill>
                <a:latin typeface="Calibri" pitchFamily="34" charset="0"/>
                <a:ea typeface="Calibri" pitchFamily="34" charset="-122"/>
                <a:cs typeface="Calibri" pitchFamily="34" charset="-120"/>
              </a:rPr>
              <a:t>arr_delay, dep_delay, taxi_out/in, air_time, and distance all show outliers — expected in real operations. Extreme values will be kept and investigated rather than removed, distinguishing genuine long delays from data errors.</a:t>
            </a:r>
            <a:endParaRPr lang="en-US" sz="1400" dirty="0"/>
          </a:p>
        </p:txBody>
      </p:sp>
      <p:sp>
        <p:nvSpPr>
          <p:cNvPr id="38" name="Text 36"/>
          <p:cNvSpPr/>
          <p:nvPr/>
        </p:nvSpPr>
        <p:spPr>
          <a:xfrm>
            <a:off x="457200" y="6519672"/>
            <a:ext cx="73152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Capstone Part 1 · Lightning Talk</a:t>
            </a:r>
            <a:endParaRPr lang="en-US" sz="1000" dirty="0"/>
          </a:p>
        </p:txBody>
      </p:sp>
      <p:sp>
        <p:nvSpPr>
          <p:cNvPr id="39" name="Text 37"/>
          <p:cNvSpPr/>
          <p:nvPr/>
        </p:nvSpPr>
        <p:spPr>
          <a:xfrm>
            <a:off x="11365992" y="6519672"/>
            <a:ext cx="36576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206240" cy="4206240"/>
          </a:xfrm>
          <a:prstGeom prst="ellipse">
            <a:avLst/>
          </a:prstGeom>
          <a:ln w="19050">
            <a:solidFill>
              <a:srgbClr val="3A4590"/>
            </a:solidFill>
            <a:prstDash val="solid"/>
          </a:ln>
        </p:spPr>
        <p:txBody>
          <a:bodyPr/>
          <a:lstStyle/>
          <a:p>
            <a:endParaRPr lang="en-GB"/>
          </a:p>
        </p:txBody>
      </p:sp>
      <p:sp>
        <p:nvSpPr>
          <p:cNvPr id="3" name="Shape 1"/>
          <p:cNvSpPr/>
          <p:nvPr/>
        </p:nvSpPr>
        <p:spPr>
          <a:xfrm>
            <a:off x="9692640" y="4023360"/>
            <a:ext cx="4206240" cy="4206240"/>
          </a:xfrm>
          <a:prstGeom prst="ellipse">
            <a:avLst/>
          </a:prstGeom>
          <a:ln w="19050">
            <a:solidFill>
              <a:srgbClr val="3A4590"/>
            </a:solidFill>
            <a:prstDash val="solid"/>
          </a:ln>
        </p:spPr>
        <p:txBody>
          <a:bodyPr/>
          <a:lstStyle/>
          <a:p>
            <a:endParaRPr lang="en-GB"/>
          </a:p>
        </p:txBody>
      </p:sp>
      <p:sp>
        <p:nvSpPr>
          <p:cNvPr id="4" name="Text 2"/>
          <p:cNvSpPr/>
          <p:nvPr/>
        </p:nvSpPr>
        <p:spPr>
          <a:xfrm>
            <a:off x="822960" y="594360"/>
            <a:ext cx="7315200" cy="320040"/>
          </a:xfrm>
          <a:prstGeom prst="rect">
            <a:avLst/>
          </a:prstGeom>
          <a:noFill/>
          <a:ln/>
        </p:spPr>
        <p:txBody>
          <a:bodyPr wrap="square" lIns="0" tIns="0" rIns="0" bIns="0" rtlCol="0" anchor="ctr"/>
          <a:lstStyle/>
          <a:p>
            <a:pPr marL="0" indent="0">
              <a:buNone/>
            </a:pPr>
            <a:r>
              <a:rPr lang="en-US" sz="1300" b="1" kern="0" spc="200" dirty="0">
                <a:solidFill>
                  <a:srgbClr val="CADCFC"/>
                </a:solidFill>
                <a:latin typeface="Calibri" pitchFamily="34" charset="0"/>
                <a:ea typeface="Calibri" pitchFamily="34" charset="-122"/>
                <a:cs typeface="Calibri" pitchFamily="34" charset="-120"/>
              </a:rPr>
              <a:t>NEXT STEPS</a:t>
            </a:r>
            <a:endParaRPr lang="en-US" sz="1300" dirty="0"/>
          </a:p>
        </p:txBody>
      </p:sp>
      <p:sp>
        <p:nvSpPr>
          <p:cNvPr id="5" name="Text 3"/>
          <p:cNvSpPr/>
          <p:nvPr/>
        </p:nvSpPr>
        <p:spPr>
          <a:xfrm>
            <a:off x="777240" y="9144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From pitch to approved dataset</a:t>
            </a:r>
            <a:endParaRPr lang="en-US" sz="3200" dirty="0"/>
          </a:p>
        </p:txBody>
      </p:sp>
      <p:sp>
        <p:nvSpPr>
          <p:cNvPr id="6" name="Shape 4"/>
          <p:cNvSpPr/>
          <p:nvPr/>
        </p:nvSpPr>
        <p:spPr>
          <a:xfrm>
            <a:off x="822960" y="1965960"/>
            <a:ext cx="457200" cy="457200"/>
          </a:xfrm>
          <a:prstGeom prst="ellipse">
            <a:avLst/>
          </a:prstGeom>
          <a:solidFill>
            <a:srgbClr val="CADCFC"/>
          </a:solidFill>
          <a:ln/>
        </p:spPr>
        <p:txBody>
          <a:bodyPr/>
          <a:lstStyle/>
          <a:p>
            <a:endParaRPr lang="en-GB"/>
          </a:p>
        </p:txBody>
      </p:sp>
      <p:sp>
        <p:nvSpPr>
          <p:cNvPr id="7" name="Text 5"/>
          <p:cNvSpPr/>
          <p:nvPr/>
        </p:nvSpPr>
        <p:spPr>
          <a:xfrm>
            <a:off x="822960" y="1965960"/>
            <a:ext cx="457200" cy="45720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81328" y="1938528"/>
            <a:ext cx="9601200" cy="320040"/>
          </a:xfrm>
          <a:prstGeom prst="rect">
            <a:avLst/>
          </a:prstGeom>
          <a:noFill/>
          <a:ln/>
        </p:spPr>
        <p:txBody>
          <a:bodyPr wrap="square" lIns="0" tIns="0" rIns="0" bIns="0" rtlCol="0" anchor="ctr"/>
          <a:lstStyle/>
          <a:p>
            <a:pPr marL="0" indent="0">
              <a:buNone/>
            </a:pPr>
            <a:r>
              <a:rPr lang="en-US" b="1" dirty="0">
                <a:solidFill>
                  <a:srgbClr val="FFFFFF"/>
                </a:solidFill>
                <a:latin typeface="Cambria" pitchFamily="34" charset="0"/>
                <a:ea typeface="Cambria" pitchFamily="34" charset="-122"/>
                <a:cs typeface="Cambria" pitchFamily="34" charset="-120"/>
              </a:rPr>
              <a:t>Share all 3 dataset links with the IAs</a:t>
            </a:r>
            <a:endParaRPr lang="en-US" dirty="0"/>
          </a:p>
        </p:txBody>
      </p:sp>
      <p:sp>
        <p:nvSpPr>
          <p:cNvPr id="9" name="Text 7"/>
          <p:cNvSpPr/>
          <p:nvPr/>
        </p:nvSpPr>
        <p:spPr>
          <a:xfrm>
            <a:off x="1481328" y="2258568"/>
            <a:ext cx="9601200" cy="365760"/>
          </a:xfrm>
          <a:prstGeom prst="rect">
            <a:avLst/>
          </a:prstGeom>
          <a:noFill/>
          <a:ln/>
        </p:spPr>
        <p:txBody>
          <a:bodyPr wrap="square" lIns="0" tIns="0" rIns="0" bIns="0" rtlCol="0" anchor="ctr"/>
          <a:lstStyle/>
          <a:p>
            <a:pPr marL="0" indent="0">
              <a:buNone/>
            </a:pPr>
            <a:r>
              <a:rPr lang="en-US" sz="1400" dirty="0">
                <a:solidFill>
                  <a:srgbClr val="B9C4E8"/>
                </a:solidFill>
                <a:latin typeface="Calibri" pitchFamily="34" charset="0"/>
                <a:ea typeface="Calibri" pitchFamily="34" charset="-122"/>
                <a:cs typeface="Calibri" pitchFamily="34" charset="-120"/>
              </a:rPr>
              <a:t>Send via Slack + the dataset approval form for sign-off.</a:t>
            </a:r>
            <a:endParaRPr lang="en-US" sz="1400" dirty="0"/>
          </a:p>
        </p:txBody>
      </p:sp>
      <p:sp>
        <p:nvSpPr>
          <p:cNvPr id="10" name="Shape 8"/>
          <p:cNvSpPr/>
          <p:nvPr/>
        </p:nvSpPr>
        <p:spPr>
          <a:xfrm>
            <a:off x="822960" y="2926080"/>
            <a:ext cx="457200" cy="457200"/>
          </a:xfrm>
          <a:prstGeom prst="ellipse">
            <a:avLst/>
          </a:prstGeom>
          <a:solidFill>
            <a:srgbClr val="CADCFC"/>
          </a:solidFill>
          <a:ln/>
        </p:spPr>
        <p:txBody>
          <a:bodyPr/>
          <a:lstStyle/>
          <a:p>
            <a:endParaRPr lang="en-GB"/>
          </a:p>
        </p:txBody>
      </p:sp>
      <p:sp>
        <p:nvSpPr>
          <p:cNvPr id="11" name="Text 9"/>
          <p:cNvSpPr/>
          <p:nvPr/>
        </p:nvSpPr>
        <p:spPr>
          <a:xfrm>
            <a:off x="822960" y="2926080"/>
            <a:ext cx="457200" cy="45720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481328" y="2898648"/>
            <a:ext cx="9601200" cy="320040"/>
          </a:xfrm>
          <a:prstGeom prst="rect">
            <a:avLst/>
          </a:prstGeom>
          <a:noFill/>
          <a:ln/>
        </p:spPr>
        <p:txBody>
          <a:bodyPr wrap="square" lIns="0" tIns="0" rIns="0" bIns="0" rtlCol="0" anchor="ctr"/>
          <a:lstStyle/>
          <a:p>
            <a:pPr marL="0" indent="0">
              <a:buNone/>
            </a:pPr>
            <a:r>
              <a:rPr lang="en-US" b="1" dirty="0">
                <a:solidFill>
                  <a:srgbClr val="FFFFFF"/>
                </a:solidFill>
                <a:latin typeface="Cambria" pitchFamily="34" charset="0"/>
                <a:ea typeface="Cambria" pitchFamily="34" charset="-122"/>
                <a:cs typeface="Cambria" pitchFamily="34" charset="-120"/>
              </a:rPr>
              <a:t>Finalize EDA notebook</a:t>
            </a:r>
            <a:endParaRPr lang="en-US" dirty="0"/>
          </a:p>
        </p:txBody>
      </p:sp>
      <p:sp>
        <p:nvSpPr>
          <p:cNvPr id="13" name="Text 11"/>
          <p:cNvSpPr/>
          <p:nvPr/>
        </p:nvSpPr>
        <p:spPr>
          <a:xfrm>
            <a:off x="1481328" y="3218688"/>
            <a:ext cx="9601200" cy="365760"/>
          </a:xfrm>
          <a:prstGeom prst="rect">
            <a:avLst/>
          </a:prstGeom>
          <a:noFill/>
          <a:ln/>
        </p:spPr>
        <p:txBody>
          <a:bodyPr wrap="square" lIns="0" tIns="0" rIns="0" bIns="0" rtlCol="0" anchor="ctr"/>
          <a:lstStyle/>
          <a:p>
            <a:pPr marL="0" indent="0">
              <a:buNone/>
            </a:pPr>
            <a:r>
              <a:rPr lang="en-US" sz="1400" dirty="0">
                <a:solidFill>
                  <a:srgbClr val="B9C4E8"/>
                </a:solidFill>
                <a:latin typeface="Calibri" pitchFamily="34" charset="0"/>
                <a:ea typeface="Calibri" pitchFamily="34" charset="-122"/>
                <a:cs typeface="Calibri" pitchFamily="34" charset="-120"/>
              </a:rPr>
              <a:t>Data dictionary, target analysis, nulls, correlations, and outliers for each topic.</a:t>
            </a:r>
            <a:endParaRPr lang="en-US" sz="1400" dirty="0"/>
          </a:p>
        </p:txBody>
      </p:sp>
      <p:sp>
        <p:nvSpPr>
          <p:cNvPr id="14" name="Shape 12"/>
          <p:cNvSpPr/>
          <p:nvPr/>
        </p:nvSpPr>
        <p:spPr>
          <a:xfrm>
            <a:off x="822960" y="3886200"/>
            <a:ext cx="457200" cy="457200"/>
          </a:xfrm>
          <a:prstGeom prst="ellipse">
            <a:avLst/>
          </a:prstGeom>
          <a:solidFill>
            <a:srgbClr val="CADCFC"/>
          </a:solidFill>
          <a:ln/>
        </p:spPr>
        <p:txBody>
          <a:bodyPr/>
          <a:lstStyle/>
          <a:p>
            <a:endParaRPr lang="en-GB"/>
          </a:p>
        </p:txBody>
      </p:sp>
      <p:sp>
        <p:nvSpPr>
          <p:cNvPr id="15" name="Text 13"/>
          <p:cNvSpPr/>
          <p:nvPr/>
        </p:nvSpPr>
        <p:spPr>
          <a:xfrm>
            <a:off x="822960" y="3886200"/>
            <a:ext cx="457200" cy="45720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481328" y="3858768"/>
            <a:ext cx="9601200" cy="320040"/>
          </a:xfrm>
          <a:prstGeom prst="rect">
            <a:avLst/>
          </a:prstGeom>
          <a:noFill/>
          <a:ln/>
        </p:spPr>
        <p:txBody>
          <a:bodyPr wrap="square" lIns="0" tIns="0" rIns="0" bIns="0" rtlCol="0" anchor="ctr"/>
          <a:lstStyle/>
          <a:p>
            <a:pPr marL="0" indent="0">
              <a:buNone/>
            </a:pPr>
            <a:r>
              <a:rPr lang="en-US" b="1" dirty="0">
                <a:solidFill>
                  <a:srgbClr val="FFFFFF"/>
                </a:solidFill>
                <a:latin typeface="Cambria" pitchFamily="34" charset="0"/>
                <a:ea typeface="Cambria" pitchFamily="34" charset="-122"/>
                <a:cs typeface="Cambria" pitchFamily="34" charset="-120"/>
              </a:rPr>
              <a:t>Polish the slide deck</a:t>
            </a:r>
            <a:endParaRPr lang="en-US" dirty="0"/>
          </a:p>
        </p:txBody>
      </p:sp>
      <p:sp>
        <p:nvSpPr>
          <p:cNvPr id="17" name="Text 15"/>
          <p:cNvSpPr/>
          <p:nvPr/>
        </p:nvSpPr>
        <p:spPr>
          <a:xfrm>
            <a:off x="1481328" y="4178808"/>
            <a:ext cx="9601200" cy="365760"/>
          </a:xfrm>
          <a:prstGeom prst="rect">
            <a:avLst/>
          </a:prstGeom>
          <a:noFill/>
          <a:ln/>
        </p:spPr>
        <p:txBody>
          <a:bodyPr wrap="square" lIns="0" tIns="0" rIns="0" bIns="0" rtlCol="0" anchor="ctr"/>
          <a:lstStyle/>
          <a:p>
            <a:pPr marL="0" indent="0">
              <a:buNone/>
            </a:pPr>
            <a:r>
              <a:rPr lang="en-US" sz="1400" dirty="0">
                <a:solidFill>
                  <a:srgbClr val="B9C4E8"/>
                </a:solidFill>
                <a:latin typeface="Calibri" pitchFamily="34" charset="0"/>
                <a:ea typeface="Calibri" pitchFamily="34" charset="-122"/>
                <a:cs typeface="Calibri" pitchFamily="34" charset="-120"/>
              </a:rPr>
              <a:t>Problem statement, goals, and EDA findings for each proposal, 5 minutes per person.</a:t>
            </a:r>
            <a:endParaRPr lang="en-US" sz="1400" dirty="0"/>
          </a:p>
        </p:txBody>
      </p:sp>
      <p:sp>
        <p:nvSpPr>
          <p:cNvPr id="18" name="Shape 16"/>
          <p:cNvSpPr/>
          <p:nvPr/>
        </p:nvSpPr>
        <p:spPr>
          <a:xfrm>
            <a:off x="822960" y="4846320"/>
            <a:ext cx="457200" cy="457200"/>
          </a:xfrm>
          <a:prstGeom prst="ellipse">
            <a:avLst/>
          </a:prstGeom>
          <a:solidFill>
            <a:srgbClr val="CADCFC"/>
          </a:solidFill>
          <a:ln/>
        </p:spPr>
        <p:txBody>
          <a:bodyPr/>
          <a:lstStyle/>
          <a:p>
            <a:endParaRPr lang="en-GB"/>
          </a:p>
        </p:txBody>
      </p:sp>
      <p:sp>
        <p:nvSpPr>
          <p:cNvPr id="19" name="Text 17"/>
          <p:cNvSpPr/>
          <p:nvPr/>
        </p:nvSpPr>
        <p:spPr>
          <a:xfrm>
            <a:off x="822960" y="4846320"/>
            <a:ext cx="457200" cy="45720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4</a:t>
            </a:r>
            <a:endParaRPr lang="en-US" sz="1800" dirty="0"/>
          </a:p>
        </p:txBody>
      </p:sp>
      <p:sp>
        <p:nvSpPr>
          <p:cNvPr id="20" name="Text 18"/>
          <p:cNvSpPr/>
          <p:nvPr/>
        </p:nvSpPr>
        <p:spPr>
          <a:xfrm>
            <a:off x="1481328" y="4818888"/>
            <a:ext cx="9601200" cy="320040"/>
          </a:xfrm>
          <a:prstGeom prst="rect">
            <a:avLst/>
          </a:prstGeom>
          <a:noFill/>
          <a:ln/>
        </p:spPr>
        <p:txBody>
          <a:bodyPr wrap="square" lIns="0" tIns="0" rIns="0" bIns="0" rtlCol="0" anchor="ctr"/>
          <a:lstStyle/>
          <a:p>
            <a:pPr marL="0" indent="0">
              <a:buNone/>
            </a:pPr>
            <a:r>
              <a:rPr lang="en-US" b="1" dirty="0">
                <a:solidFill>
                  <a:srgbClr val="FFFFFF"/>
                </a:solidFill>
                <a:latin typeface="Cambria" pitchFamily="34" charset="0"/>
                <a:ea typeface="Cambria" pitchFamily="34" charset="-122"/>
                <a:cs typeface="Cambria" pitchFamily="34" charset="-120"/>
              </a:rPr>
              <a:t>Submit on Google Classroom</a:t>
            </a:r>
            <a:endParaRPr lang="en-US" dirty="0"/>
          </a:p>
        </p:txBody>
      </p:sp>
      <p:sp>
        <p:nvSpPr>
          <p:cNvPr id="21" name="Text 19"/>
          <p:cNvSpPr/>
          <p:nvPr/>
        </p:nvSpPr>
        <p:spPr>
          <a:xfrm>
            <a:off x="1481328" y="5138928"/>
            <a:ext cx="9601200" cy="365760"/>
          </a:xfrm>
          <a:prstGeom prst="rect">
            <a:avLst/>
          </a:prstGeom>
          <a:noFill/>
          <a:ln/>
        </p:spPr>
        <p:txBody>
          <a:bodyPr wrap="square" lIns="0" tIns="0" rIns="0" bIns="0" rtlCol="0" anchor="ctr"/>
          <a:lstStyle/>
          <a:p>
            <a:pPr marL="0" indent="0">
              <a:buNone/>
            </a:pPr>
            <a:r>
              <a:rPr lang="en-US" sz="1400" dirty="0">
                <a:solidFill>
                  <a:srgbClr val="B9C4E8"/>
                </a:solidFill>
                <a:latin typeface="Calibri" pitchFamily="34" charset="0"/>
                <a:ea typeface="Calibri" pitchFamily="34" charset="-122"/>
                <a:cs typeface="Calibri" pitchFamily="34" charset="-120"/>
              </a:rPr>
              <a:t>Both the notebook and slides, ahead of the presentation date.</a:t>
            </a:r>
            <a:endParaRPr lang="en-US" sz="1400" dirty="0"/>
          </a:p>
        </p:txBody>
      </p:sp>
      <p:sp>
        <p:nvSpPr>
          <p:cNvPr id="22" name="Text 20"/>
          <p:cNvSpPr/>
          <p:nvPr/>
        </p:nvSpPr>
        <p:spPr>
          <a:xfrm>
            <a:off x="822960" y="6144768"/>
            <a:ext cx="7315200" cy="320040"/>
          </a:xfrm>
          <a:prstGeom prst="rect">
            <a:avLst/>
          </a:prstGeom>
          <a:noFill/>
          <a:ln/>
        </p:spPr>
        <p:txBody>
          <a:bodyPr wrap="square" lIns="0" tIns="0" rIns="0" bIns="0" rtlCol="0" anchor="ctr"/>
          <a:lstStyle/>
          <a:p>
            <a:pPr marL="0" indent="0">
              <a:buNone/>
            </a:pPr>
            <a:r>
              <a:rPr lang="en-US" sz="1500" i="1" dirty="0">
                <a:solidFill>
                  <a:srgbClr val="CADCFC"/>
                </a:solidFill>
                <a:latin typeface="Cambria" pitchFamily="34" charset="0"/>
                <a:ea typeface="Cambria" pitchFamily="34" charset="-122"/>
                <a:cs typeface="Cambria" pitchFamily="34" charset="-120"/>
              </a:rPr>
              <a:t>Thank you —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951</Words>
  <Application>Microsoft Office PowerPoint</Application>
  <PresentationFormat>Widescreen</PresentationFormat>
  <Paragraphs>201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Fatima Khalifa</cp:lastModifiedBy>
  <cp:revision>2</cp:revision>
  <dcterms:created xsi:type="dcterms:W3CDTF">2026-08-03T11:36:21Z</dcterms:created>
  <dcterms:modified xsi:type="dcterms:W3CDTF">2026-08-03T13:15:40Z</dcterms:modified>
</cp:coreProperties>
</file>